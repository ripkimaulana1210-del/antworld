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Waktu eksekusi (detik)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Waktu (s)</c:v>
                </c:pt>
              </c:strCache>
            </c:strRef>
          </c:tx>
          <c:spPr>
            <a:solidFill>
              <a:srgbClr val="0E1F3C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11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Serial</c:v>
                </c:pt>
                <c:pt idx="1">
                  <c:v>Hybrid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4.597952</c:v>
                </c:pt>
                <c:pt idx="1">
                  <c:v>3.090437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Speedup per konfigurasi (garis referensi = 1,0×)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Speedup (×)</c:v>
                </c:pt>
              </c:strCache>
            </c:strRef>
          </c:tx>
          <c:spPr>
            <a:solidFill>
              <a:srgbClr val="1C5BA8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11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5T–3P
1.390</c:v>
                </c:pt>
                <c:pt idx="1">
                  <c:v>1T–3P
1.390</c:v>
                </c:pt>
                <c:pt idx="2">
                  <c:v>5T–2P
1.390</c:v>
                </c:pt>
                <c:pt idx="3">
                  <c:v>5T–3P
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1.4878</c:v>
                </c:pt>
                <c:pt idx="1">
                  <c:v>1.4896</c:v>
                </c:pt>
                <c:pt idx="2">
                  <c:v>1.406</c:v>
                </c:pt>
                <c:pt idx="3">
                  <c:v>0.919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Salam pembuka. Perkenalkan judul: ANT WORLD, simulasi koloni semut paralel hybrid. Sebutkan nama, NIM, dan bahwa presentasi ini meringkas laporan 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perilaku swarm intelligence dan mengapa simulasi ini berat komputasi. Tekankan pertanyaan inti: efisiensi vs konsistensi hasil.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dua jenis beban kerja dan mengapa masing-masing dipetakan ke mekanisme berbeda. Tekankan GIL pada CPython sebagai alasan ProcessPool untuk kerja CPU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 asal parameter: thread=39 mod 4+2, process=61 mod 3+2, data=139×10. Tegaskan seed memakai nilai NIM untuk determinisme.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Telusuri alur satu iterasi dari kiri ke kanan. Tunjukkan bahwa jalur I/O berjalan paralel dan tidak memblokir komputasi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screenshot dashboard asli dari laporan (Gambar 6). Ingatkan bahwa dashboard adalah visualisasi runtime; angka pembanding tetap Tabel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desain berpasangan dan bahwa setiap konfigurasi hanya dijalankan sekali, sehingga hasil bersifat observasional, bukan bukti signifikansi statistik.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grafik batang serial vs hybrid dengan label nilai. Tegaskan angka berasal dari Tabel 5 laporan dan tidak diubah.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Bandingkan keempat konfigurasi. Garis referensi speedup = 1,0× memisahkan yang lebih cepat dari yang lebih lambat daripada serial.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Bedakan jelas mana yang terlihat dari desain dan mana yang belum diukur langsung. Jangan menyatakan komponen biaya tertentu sebagai penyebab tanpa profiling.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Ringkas temuan utama dan langkah berikutnya. Tekankan pelajaran: paradigma paralel dipilih berdasarkan jenis beban dan biaya koordinasi, bukan jumlah worker semata.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presentasi. Buka sesi tanya jawab. Referensi mengikuti daftar pustaka laporan.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10972" cy="6858000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5394960"/>
            <a:ext cx="146304" cy="14630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20240" y="5029200"/>
            <a:ext cx="146304" cy="14630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43200" y="5394960"/>
            <a:ext cx="146304" cy="14630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66160" y="4937760"/>
            <a:ext cx="146304" cy="14630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9120" y="5303520"/>
            <a:ext cx="146304" cy="146304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12344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UJIAN TENGAH SEMESTER — KOMPUTASI PARALEL DAN TERDISTRIBUSI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783080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ANT WORLD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DCE8F7"/>
                </a:solidFill>
                <a:latin typeface="Calibri"/>
              </a:rPr>
              <a:t>Hybrid Parallel Ant Colony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7033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4A90D9"/>
                </a:solidFill>
                <a:latin typeface="Calibri"/>
              </a:rPr>
              <a:t>Hybrid Computing for Real-World Simulation and Data Processing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6177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Ripki Maulana  •  NIM 247006111139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DCE8F7"/>
                </a:solidFill>
                <a:latin typeface="Calibri"/>
              </a:rPr>
              <a:t>Program Studi Informatika — Fakultas Teknik — Universitas Siliwangi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Masalah: banyak keputusan agen tiap iterasi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5778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Semut menjelajah dari sarang untuk menemukan makanan, lalu kembali ke sarang.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Feromon menjadi jejak tidak langsung yang memengaruhi keputusan berikutnya.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Interaksi lokal antarbanyak agen membentuk perilaku kolektif (swarm intelligence).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Setiap iterasi memuat banyak keputusan agen yang harus dihitung dan digabungkan.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C5BA8"/>
                </a:solidFill>
                <a:latin typeface="Calibri"/>
              </a:rPr>
              <a:t>Permasalahan: meningkatkan efisiensi komputasi tanpa mengorbankan konsistensi hasil.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63040"/>
            <a:ext cx="3566160" cy="658368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57276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651760"/>
            <a:ext cx="3566160" cy="65836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76148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Eksplorasi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840480"/>
            <a:ext cx="3566160" cy="658368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95020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5029200"/>
            <a:ext cx="3566160" cy="658368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513892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Kembali ke Nest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32519" y="2121408"/>
            <a:ext cx="0" cy="530352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32519" y="3310128"/>
            <a:ext cx="0" cy="530352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19" y="4498848"/>
            <a:ext cx="0" cy="530352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0" y="5806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jalur feromon ↓ 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Hybrid computing: CPU-bound + I/O-bound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20440" cy="420624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20440" cy="566928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CPU-bound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0632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ProcessPoolExecutor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Menghitung posisi &amp; keputusan gerak semut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Membagi agen menjadi beberapa chunk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Worker menghitung hasil lokal di proses terpisah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520440" cy="420624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520440" cy="566928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81328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I/O-bound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30632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E9E6B"/>
                </a:solidFill>
                <a:latin typeface="Calibri"/>
              </a:rPr>
              <a:t>ThreadPoolExecutor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Menulis checkpoint JSON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Menulis statistik &amp; CSV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Memproses pembaruan state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520440" cy="420624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520440" cy="566928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81328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Main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0632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Koordinasi &amp; konsistensi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CE8F7"/>
                </a:solidFill>
                <a:latin typeface="Calibri"/>
              </a:rPr>
              <a:t>• Mempertahankan state global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DCE8F7"/>
                </a:solidFill>
                <a:latin typeface="Calibri"/>
              </a:rPr>
              <a:t>• Menunggu seluruh worker selesai (barrier)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DCE8F7"/>
                </a:solidFill>
                <a:latin typeface="Calibri"/>
              </a:rPr>
              <a:t>• Menggabungkan hasil &amp; memperbarui 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A6372"/>
                </a:solidFill>
                <a:latin typeface="Calibri"/>
              </a:rPr>
              <a:t>Catatan: MPI tidak digunakan dalam implementasi ini (eksekusi satu komputer).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DESAIN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Parameter personal dari NIM 247006111139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8191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C5BA8"/>
                </a:solidFill>
                <a:latin typeface="Cambria"/>
              </a:rPr>
              <a:t>1.390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semut (ants)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823" y="141732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0551" y="158191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E9E6B"/>
                </a:solidFill>
                <a:latin typeface="Cambr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551" y="224028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thread I/O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41732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2735" y="158191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C5BA8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2735" y="224028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worker proses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5191" y="141732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4919" y="158191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E1F3C"/>
                </a:solidFill>
                <a:latin typeface="Cambria"/>
              </a:rPr>
              <a:t>100 ×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4919" y="224028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grid simulasi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7355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E08A1E"/>
                </a:solidFill>
                <a:latin typeface="Cambria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93192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sumber makanan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0823" y="310896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0551" y="327355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C0394B"/>
                </a:solidFill>
                <a:latin typeface="Cambria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551" y="393192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obstacle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10896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2735" y="327355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62C54"/>
                </a:solidFill>
                <a:latin typeface="Cambria"/>
              </a:rPr>
              <a:t>247006111139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2735" y="393192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seed (nilai NIM)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5191" y="3108960"/>
            <a:ext cx="2567863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4919" y="3273552"/>
            <a:ext cx="234840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2E9E6B"/>
                </a:solidFill>
                <a:latin typeface="Cambria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4919" y="3931920"/>
            <a:ext cx="234840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iterasi per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A6372"/>
                </a:solidFill>
                <a:latin typeface="Calibri"/>
              </a:rPr>
              <a:t>Konfigurasi maksimum 1.000 iterasi, kecuali dioverride melalui argumen runtime.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ARSITEKTUR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Alur satu iterasi: chunk → pool → barrier → 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29968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Konfigurasi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9968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76272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2029968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Snapshot World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03904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2029968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Ant Chunking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85232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31536" y="1920240"/>
            <a:ext cx="1481328" cy="868680"/>
          </a:xfrm>
          <a:prstGeom prst="round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1536" y="2029968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ProcessPool
Workers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59168" y="1920240"/>
            <a:ext cx="1481328" cy="868680"/>
          </a:xfrm>
          <a:prstGeom prst="round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2029968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Barrier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0496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86800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029968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Result Merge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68128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314432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2029968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World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97180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Worker menghitung state lokal berdasarkan snapshot; tidak menulis world global.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Main process menunggu seluruh future (barrier), mengurutkan hasil dengan chunk_id.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State global diperbarui hanya setelah hasil lengkap diterima (merge deterministik).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60520"/>
            <a:ext cx="11094415" cy="45720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2452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Jalur I/O paralel — ThreadPoolExecutor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00600"/>
            <a:ext cx="3515258" cy="73152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56048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B2230"/>
                </a:solidFill>
                <a:latin typeface="Calibri"/>
              </a:rPr>
              <a:t>Checkpoint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06269" y="4617720"/>
            <a:ext cx="0" cy="182880"/>
          </a:xfrm>
          <a:prstGeom prst="line">
            <a:avLst/>
          </a:prstGeom>
          <a:ln w="25400">
            <a:solidFill>
              <a:srgbClr val="2E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338218" y="4800600"/>
            <a:ext cx="3515258" cy="73152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8218" y="4956048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B2230"/>
                </a:solidFill>
                <a:latin typeface="Calibri"/>
              </a:rPr>
              <a:t>Statistik / CSV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5847" y="4617720"/>
            <a:ext cx="0" cy="182880"/>
          </a:xfrm>
          <a:prstGeom prst="line">
            <a:avLst/>
          </a:prstGeom>
          <a:ln w="25400">
            <a:solidFill>
              <a:srgbClr val="2E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127796" y="4800600"/>
            <a:ext cx="3515258" cy="73152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7796" y="4956048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B2230"/>
                </a:solidFill>
                <a:latin typeface="Calibri"/>
              </a:rPr>
              <a:t>Pembaruan Dashboard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885426" y="4617720"/>
            <a:ext cx="0" cy="182880"/>
          </a:xfrm>
          <a:prstGeom prst="line">
            <a:avLst/>
          </a:prstGeom>
          <a:ln w="25400">
            <a:solidFill>
              <a:srgbClr val="2E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IMPLEMENTASI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Python, NumPy, dan dashboard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94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C5BA8"/>
                </a:solidFill>
                <a:latin typeface="Calibri"/>
              </a:rPr>
              <a:t>Bahasa &amp; pustaka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Python 3.14.3 sebagai bahasa implementasi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NumPy untuk grid makanan, obstacle, dan feromon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concurrent.futures + multiprocessing (standard library)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C5BA8"/>
                </a:solidFill>
                <a:latin typeface="Calibri"/>
              </a:rPr>
              <a:t>Model agen semut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Identitas, posisi, status membawa makanan, perilaku, path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Probabilitas gerak dipengaruhi feromon + heuristik jarak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Penguapan feromon mencegah jejak lama bertahan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5A6372"/>
                </a:solidFill>
                <a:latin typeface="Calibri"/>
              </a:rPr>
              <a:t>Dashboard menampilkan peta simulasi, status/iterasi, jumlah semut &amp; makanan, konfigurasi worker, serta metrik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79106" y="1298448"/>
            <a:ext cx="3855467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1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258" y="1371600"/>
            <a:ext cx="3709163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79106" y="5779008"/>
            <a:ext cx="38554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Screenshot dashboard ANT WORLD (Gambar 6, laporan).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METODOLOGI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Benchmark berpasangan: serial vs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Membandingkan baseline serial dan mode hybrid pada setiap konfigurasi.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Seed, jumlah semut, dan jumlah iterasi disamakan dalam setiap pasangan.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Setiap konfigurasi berjalan 100 iterasi; batch dijalankan tanpa server dashboard aktif.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Metrik: execution time, speedup, efficiency, throughput, dan determinisme.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063240"/>
          <a:ext cx="1110081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463040"/>
                <a:gridCol w="1463040"/>
                <a:gridCol w="4517136"/>
              </a:tblGrid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Konfigurasi</a:t>
                      </a:r>
                    </a:p>
                  </a:txBody>
                  <a:tcPr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Thread</a:t>
                      </a:r>
                    </a:p>
                  </a:txBody>
                  <a:tcPr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Semut</a:t>
                      </a:r>
                    </a:p>
                  </a:txBody>
                  <a:tcPr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Keterangan</a:t>
                      </a:r>
                    </a:p>
                  </a:txBody>
                  <a:tcPr>
                    <a:solidFill>
                      <a:srgbClr val="0E1F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Personal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1.390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Acuan personal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Variasi thread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1.390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Thread diubah; lainnya tetap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Variasi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1.390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Process diubah; lainnya tetap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Variasi data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230"/>
                          </a:solidFill>
                          <a:latin typeface="Calibri"/>
                        </a:rPr>
                        <a:t>Data diubah; lainnya tetap</a:t>
                      </a:r>
                    </a:p>
                  </a:txBody>
                  <a:tcPr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HASIL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Konfigurasi personal: 5 thread, 3 process, 1.390 semut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5669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92240" y="1554480"/>
            <a:ext cx="1725168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719072"/>
            <a:ext cx="1505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E9E6B"/>
                </a:solidFill>
                <a:latin typeface="Cambria"/>
              </a:rPr>
              <a:t>1,4878×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2377439"/>
            <a:ext cx="1505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Speedup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3712" y="1554480"/>
            <a:ext cx="1725168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3440" y="1719072"/>
            <a:ext cx="1505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C5BA8"/>
                </a:solidFill>
                <a:latin typeface="Cambria"/>
              </a:rPr>
              <a:t>49,59%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440" y="2377439"/>
            <a:ext cx="1505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35184" y="1554480"/>
            <a:ext cx="1725168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44912" y="1719072"/>
            <a:ext cx="1505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E08A1E"/>
                </a:solidFill>
                <a:latin typeface="Cambria"/>
              </a:rPr>
              <a:t>449,77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44912" y="2377439"/>
            <a:ext cx="1505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Throughput (ants/s)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53949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Waktu serial : 4,597952 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Waktu hybrid : 3,090437 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Interpretasi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Pada konfigurasi personal ini, hybrid mencatat waktu eksekusi lebih rendah dibandingkan baseline serial, menghasilkan speedup 1,4878×.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5A6372"/>
                </a:solidFill>
                <a:latin typeface="Calibri"/>
              </a:rPr>
              <a:t>Catatan: food collected = 0 pada seluruh konfigurasi uji.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PERBANDINGAN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Speedup empat konfigurasi benchmark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9788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A6372"/>
                </a:solidFill>
                <a:latin typeface="Calibri"/>
              </a:rPr>
              <a:t>Batang merah = speedup &lt; 1,0× (hybrid lebih lambat).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41148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C5BA8"/>
                </a:solidFill>
                <a:latin typeface="Calibri"/>
              </a:rPr>
              <a:t>Nilai speedup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5T–3P–1.390 : 1,4878×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1T–3P–1.390 : 1,4896×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• 5T–2P–1.390 : 1,4060×</a:t>
            </a:r>
          </a:p>
          <a:p>
            <a:pPr algn="l">
              <a:spcAft>
                <a:spcPts val="1200"/>
              </a:spcAft>
            </a:pPr>
            <a:r>
              <a:rPr sz="1300" b="1">
                <a:solidFill>
                  <a:srgbClr val="C0394B"/>
                </a:solidFill>
                <a:latin typeface="Calibri"/>
              </a:rPr>
              <a:t>• 5T–3P–500 : 0,9190×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C5BA8"/>
                </a:solidFill>
                <a:latin typeface="Calibri"/>
              </a:rPr>
              <a:t>Interpretasi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Konfigurasi 500 semut menghasilkan speedup di bawah satu. Hybrid tidak selalu lebih cepat karena biaya koordinasi dapat mengurangi manfaat paralelisasi.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ANALISIS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Bottleneck: mekanisme terlihat vs dampak terukur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657600" cy="45720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2918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E1F3C"/>
                </a:solidFill>
                <a:latin typeface="Calibri"/>
              </a:rPr>
              <a:t>Terlihat dalam desain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Serialization / pickling state semut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Transfer snapshot world antarproses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IPC (inter-process communication)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Barrier menunggu worker paling lambat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Merge serial di main process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3 worker pada 2 physical core / 4 logical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Biaya checkpoint &amp; I/O bergantung opsi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371600"/>
            <a:ext cx="71624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08760"/>
            <a:ext cx="6796735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0394B"/>
                </a:solidFill>
                <a:latin typeface="Calibri"/>
              </a:rPr>
              <a:t>Status bukti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Pickling/IPC/transfer: pola ada di source; besar biaya perlu profiling.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Barrier: mekanisme eksplisit; worker tertinggal menahan iterasi.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Merge serial: proporsi waktu belum tersedia.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CPU saturation: dapat menjadi faktor; perlu hasil aktual.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Memori: potensi biaya transfer; penggunaan belum tercatat.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I/O: waktu terpisah tidak tercatat di CSV benchmark.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Bukti terukur: pada 500 semut, speedup 0,9190× menunjukkan total biaya hybrid melebihi manfaat paralel untuk workload kecil.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109441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A90D9"/>
                </a:solidFill>
                <a:latin typeface="Calibri"/>
              </a:rPr>
              <a:t>PENUTUP ANALISIS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109441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Kesimpulan dan saran pengembangan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10047" cy="45720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044287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1F3C"/>
                </a:solidFill>
                <a:latin typeface="Calibri"/>
              </a:rPr>
              <a:t>Kesimpulan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ANT WORLD menerapkan hybrid computing pada satu komputer.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ProcessPoolExecutor menangani komputasi semut (CPU-bound).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ThreadPoolExecutor menangani pekerjaan I/O-bound.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2E9E6B"/>
                </a:solidFill>
                <a:latin typeface="Calibri"/>
              </a:rPr>
              <a:t>• Konfigurasi personal memperoleh speedup 1,4878×.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C0394B"/>
                </a:solidFill>
                <a:latin typeface="Calibri"/>
              </a:rPr>
              <a:t>• Workload 500 semut memperoleh speedup 0,9190×.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Hasil serial dan hybrid deterministik cocok.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Food collected = 0 pada seluruh konfigurasi uji.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371600"/>
            <a:ext cx="5410047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7" y="1508760"/>
            <a:ext cx="5044287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C5BA8"/>
                </a:solidFill>
                <a:latin typeface="Calibri"/>
              </a:rPr>
              <a:t>Saran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Ulangi benchmark untuk median &amp; variasi waktu.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Lakukan profiling sebelum optimasi.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Evaluasi chunk size &amp; biaya transfer snapshot.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Pertimbangkan shared memory hanya bila terbukti bermanfaat.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• Gunakan MPI hanya bila simulasi benar-benar butuh multi-node.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766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TERIMA KASIH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4A90D9"/>
                </a:solidFill>
                <a:latin typeface="Calibri"/>
              </a:rPr>
              <a:t>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67665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E8F7"/>
                </a:solidFill>
                <a:latin typeface="Calibri"/>
              </a:rPr>
              <a:t>Ripki Maulana • NIM 247006111139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DCE8F7"/>
                </a:solidFill>
                <a:latin typeface="Calibri"/>
              </a:rPr>
              <a:t>Program Studi Informatika — Universitas Siliwangi — 2026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4A90D9"/>
                </a:solidFill>
                <a:latin typeface="Calibri"/>
              </a:rPr>
              <a:t>Demo: antworld-production.up.railway.app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4A90D9"/>
                </a:solidFill>
                <a:latin typeface="Calibri"/>
              </a:rPr>
              <a:t>Sumber: github.com/ripkimaulana1210-del/AntWorld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005840"/>
            <a:ext cx="4419295" cy="4846320"/>
          </a:xfrm>
          <a:prstGeom prst="roundRect">
            <a:avLst/>
          </a:prstGeom>
          <a:solidFill>
            <a:srgbClr val="162C54"/>
          </a:solidFill>
          <a:ln w="1270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188720"/>
            <a:ext cx="396209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Referensi inti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DCE8F7"/>
                </a:solidFill>
                <a:latin typeface="Calibri"/>
              </a:rPr>
              <a:t>[1] Python Software Foundation — concurrent.futures.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DCE8F7"/>
                </a:solidFill>
                <a:latin typeface="Calibri"/>
              </a:rPr>
              <a:t>[2] Python Software Foundation — multiprocessing.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DCE8F7"/>
                </a:solidFill>
                <a:latin typeface="Calibri"/>
              </a:rPr>
              <a:t>[3] G. M. Amdahl (1967) — Validity of the Single Processor Approach.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DCE8F7"/>
                </a:solidFill>
                <a:latin typeface="Calibri"/>
              </a:rPr>
              <a:t>[4] Dorigo, Maniezzo, Colorni (1996) — Ant System.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DCE8F7"/>
                </a:solidFill>
                <a:latin typeface="Calibri"/>
              </a:rPr>
              <a:t>[5] P. S. Pacheco (2011) — An Introduction to Parallel Programming.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DCE8F7"/>
                </a:solidFill>
                <a:latin typeface="Calibri"/>
              </a:rPr>
              <a:t>[6] Python Software Foundation — threading.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DCE8F7"/>
                </a:solidFill>
                <a:latin typeface="Calibri"/>
              </a:rPr>
              <a:t>[7] Prodi Informatika Unsil — Naskah Soal UTS,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