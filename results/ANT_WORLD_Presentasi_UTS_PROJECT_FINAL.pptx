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Waktu (s)</c:v>
                </c:pt>
              </c:strCache>
            </c:strRef>
          </c:tx>
          <c:spPr>
            <a:solidFill>
              <a:srgbClr val="0E1F3C"/>
            </a:solidFill>
          </c:spPr>
          <c:dLbls>
            <c:numFmt formatCode="0.000000" sourceLinked="0"/>
            <c:txPr>
              <a:bodyPr/>
              <a:lstStyle/>
              <a:p>
                <a:pPr>
                  <a:defRPr sz="1500" b="1">
                    <a:solidFill>
                      <a:srgbClr val="0E1F3C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Serial</c:v>
                </c:pt>
                <c:pt idx="1">
                  <c:v>Hybrid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4.597952</c:v>
                </c:pt>
                <c:pt idx="1">
                  <c:v>3.090437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Speedup ≥ 1,0×</c:v>
                </c:pt>
              </c:strCache>
            </c:strRef>
          </c:tx>
          <c:spPr>
            <a:solidFill>
              <a:srgbClr val="1C5BA8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2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5T·3P
1.390</c:v>
                </c:pt>
                <c:pt idx="1">
                  <c:v>1T·3P
1.390</c:v>
                </c:pt>
                <c:pt idx="2">
                  <c:v>5T·2P
1.390</c:v>
                </c:pt>
                <c:pt idx="3">
                  <c:v>5T·3P
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1.4878</c:v>
                </c:pt>
                <c:pt idx="1">
                  <c:v>1.4896</c:v>
                </c:pt>
                <c:pt idx="2">
                  <c:v>1.406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Speedup &lt; 1,0×</c:v>
                </c:pt>
              </c:strCache>
            </c:strRef>
          </c:tx>
          <c:spPr>
            <a:solidFill>
              <a:srgbClr val="C0394B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2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5T·3P
1.390</c:v>
                </c:pt>
                <c:pt idx="1">
                  <c:v>1T·3P
1.390</c:v>
                </c:pt>
                <c:pt idx="2">
                  <c:v>5T·2P
1.390</c:v>
                </c:pt>
                <c:pt idx="3">
                  <c:v>5T·3P
500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3">
                  <c:v>0.919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7"/>
          <c:min val="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satu kalimat: ini simulasi koloni semut, tapi pertanyaan sebenarnya adalah kapan paralelisme membayar biayanya. Sebut nama dan 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swarm intelligence: aturan lokal, pola global. Ini yang membuat simulasi berat komputasi tetapi dapat diparalelkan per-agen.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Sebutkan komponen yang benar-benar ada di kode. Grid memakai NumPy; metrik runtime dibaca dari Simulation.get_metrics(). Jangan tambah fitur yang tidak 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parameter unik dari NIM dan bahwa seed memakai nilai NIM untuk determinisme antara serial dan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jawaban Bagian A UTS: tunjukkan DUA jalur. Proses = kerja CPU (gerak semut), thread = kerja I/O (checkpoint/stats/dashboard). Main process memegang state global, barrier, merge, world update. MPI tidak dipakai. Diagram dicocokkan dengan src/parallel.py dan src/io_tasks.py.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dashboard ASLI dari laporan (Gambar 6), bukan hasil palsu atau ilustrasi. Jelaskan apa yang bisa diamati: peta, status, panel hybrid, telemetry. Dashboard = visualisasi runtime; angka pembanding tetap Tabel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Hubungkan tiap teknologi dengan fungsinya: Python bahasa utama; NumPy grid; ProcessPoolExecutor kerja CPU; ThreadPoolExecutor kerja I/O; multiprocessing memberi GIL terpisah; matplotlib/pandas untuk grafik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Angka dari Tabel 5, tidak diubah. Hybrid lebih cepat di konfigurasi personal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Empat konfigurasi dari Tabel 5, semua angka ditampilkan. Batang merah = speedup &lt; 1,0×. Garis putus-putus = ambang 1,0×. Tekankan skala kerja menentukan 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Pisahkan tiga kolom: yang sudah diukur, yang terlihat di desain, dan yang masih perlu profiling. Jangan sebut bottleneck terbukti tanpa pengukuran. Food=0 = keterbatasan fungsional yang harus ditelusuri.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Sampaikan apa yang sudah dicapai, apa yang ditunjukkan benchmark, keterbatasan, dan langkah berikutnya. Prioritas utama: selidiki food=0, uji fungsional, ulangi benchmark, profiling. Jangan klaim selesai tanpa bukti.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Tutup. Buka tanya jawab. Referensi mengikuti daftar pustaka laporan.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589520" y="5175504"/>
            <a:ext cx="691286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80806" y="5175504"/>
            <a:ext cx="691286" cy="329184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972092" y="5138928"/>
            <a:ext cx="729692" cy="365760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01784" y="5138928"/>
            <a:ext cx="729691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431475" y="5102352"/>
            <a:ext cx="998525" cy="292608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35086" y="5129784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26372" y="545896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56064" y="509320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85755" y="5349240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90D9"/>
                </a:solidFill>
                <a:latin typeface="Calibri"/>
              </a:rPr>
              <a:t>Ujian Tengah Semester — Komputasi Paralel dan Terdistribusi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417320"/>
            <a:ext cx="9601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Cambria"/>
              </a:rPr>
              <a:t>ANT WORLD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DCE8F7"/>
                </a:solidFill>
                <a:latin typeface="Calibri"/>
              </a:rPr>
              <a:t>Hybrid Parallel Ant Colony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A90D9"/>
                </a:solidFill>
                <a:latin typeface="Calibri"/>
              </a:rPr>
              <a:t>Hybrid Computing for Real-World Simulation and Data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Ripki Maulana  ·  NIM 247006111139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Program Studi Informatika — Universitas Siliwangi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MASALAH &amp; TUJUAN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Keputusan agen bersifat lokal, biayanya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450" b="0">
                <a:solidFill>
                  <a:srgbClr val="1B2230"/>
                </a:solidFill>
                <a:latin typeface="Calibri"/>
              </a:rPr>
              <a:t>ANT WORLD menyimulasikan koloni semut pada grid 2D: tiap agen memilih langkah dari feromon tetangga dan jarak ke sarang.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450" b="0">
                <a:solidFill>
                  <a:srgbClr val="1B2230"/>
                </a:solidFill>
                <a:latin typeface="Calibri"/>
              </a:rPr>
              <a:t>Tidak ada pengendali global; perilaku koloni muncul dari interaksi lokal (swarm intelligence).</a:t>
            </a:r>
          </a:p>
          <a:p>
            <a:pPr algn="l">
              <a:lnSpc>
                <a:spcPct val="102000"/>
              </a:lnSpc>
              <a:spcAft>
                <a:spcPts val="1100"/>
              </a:spcAft>
            </a:pPr>
            <a:r>
              <a:rPr sz="1450" b="0">
                <a:solidFill>
                  <a:srgbClr val="1B2230"/>
                </a:solidFill>
                <a:latin typeface="Calibri"/>
              </a:rPr>
              <a:t>Setiap iterasi menjalankan keputusan itu untuk 1.390 agen sekaligus — inilah beban komputasinya.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50" b="1">
                <a:solidFill>
                  <a:srgbClr val="1C5BA8"/>
                </a:solidFill>
                <a:latin typeface="Calibri"/>
              </a:rPr>
              <a:t>Tujuan: percepat simulasi iteratif ini tanpa mengubah hasil, sehingga pendekatan hybrid (proses + thread) dipilih.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65960"/>
            <a:ext cx="1828800" cy="77724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1226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834639"/>
            <a:ext cx="1828800" cy="77724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98094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Eksplorasi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965960"/>
            <a:ext cx="1828800" cy="77724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211226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Sumber makanan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138160" y="2354579"/>
            <a:ext cx="91440" cy="86868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875520" y="2354579"/>
            <a:ext cx="91440" cy="86868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315200" y="2743200"/>
            <a:ext cx="3474720" cy="0"/>
          </a:xfrm>
          <a:prstGeom prst="line">
            <a:avLst/>
          </a:prstGeom>
          <a:ln w="25400">
            <a:solidFill>
              <a:srgbClr val="2E9E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4297679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Jalur penuh (garis putus-putus) = semut kembali membawa makanan. Feromon menandai rute yang berhasil.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FITUR &amp; KOMPONEN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Apa yang benar-benar ada di ANT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Komponen simulasi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E1F3C"/>
                </a:solidFill>
                <a:latin typeface="Calibri"/>
              </a:rPr>
              <a:t>Grid 100 ×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9631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food_grid (int), obstacle_grid (bool), pheromone_grid (float)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9864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E1F3C"/>
                </a:solidFill>
                <a:latin typeface="Calibri"/>
              </a:rPr>
              <a:t>Agen semut (1.390)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id · posisi · membawa makanan · perilaku ·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57015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E1F3C"/>
                </a:solidFill>
                <a:latin typeface="Calibri"/>
              </a:rPr>
              <a:t>Sumber makanan / obstacle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13048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10 sumber, 20 obstacle, tidak menumpuk sarang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15383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E1F3C"/>
                </a:solidFill>
                <a:latin typeface="Calibri"/>
              </a:rPr>
              <a:t>Feromon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7141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deposit saat rute sukses; menguap tiap iterasi (decay)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73751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E1F3C"/>
                </a:solidFill>
                <a:latin typeface="Calibri"/>
              </a:rPr>
              <a:t>Keputusan gerak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9783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feromon × heuristik jarak ke sarang (α=1, β=2)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874519"/>
            <a:ext cx="4785055" cy="347472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039112"/>
            <a:ext cx="4327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Calibri"/>
              </a:rPr>
              <a:t>Status &amp; metrik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468880"/>
            <a:ext cx="4327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• food_collected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26080"/>
            <a:ext cx="4327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• total_trips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383280"/>
            <a:ext cx="4327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• food_remaining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840480"/>
            <a:ext cx="4327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• avg_pheromone · max_pheromone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297680"/>
            <a:ext cx="4327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• ants_with_food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754880"/>
            <a:ext cx="4327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• status · iteration · path length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5A6372"/>
                </a:solidFill>
                <a:latin typeface="Calibri"/>
              </a:rPr>
              <a:t>Semua komponen di atas diverifikasi terhadap kode sumber (src/world.py, src/ant.py, src/simulation.py), bukan asumsi.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PARAMETER PERSONAL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Angka-angka ini berasal dari NIM, bukan dari selera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NIM 247006111139  →  thread = 39 mod 4 + 2, proses = 61 mod 3 + 2, data = 139 ×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C5BA8"/>
                </a:solidFill>
                <a:latin typeface="Cambria"/>
              </a:rPr>
              <a:t>1.390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semut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683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E9E6B"/>
                </a:solidFill>
                <a:latin typeface="Cambri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3683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thread I/O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0803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C5BA8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worker proses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771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E1F3C"/>
                </a:solidFill>
                <a:latin typeface="Cambria"/>
              </a:rPr>
              <a:t>100×100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1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0891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1512" y="511659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73469" y="548969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7062" y="504390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2915" y="483545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48691" y="5485319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2239" y="446006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98065" y="4078286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0145" y="541382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4937" y="422879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3941" y="4729337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9639" y="3819507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2658" y="545272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63658" y="391501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5282" y="427885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66290" y="568206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9861" y="465328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24231" y="388457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9828" y="3919239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8741" y="4917504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52504" y="4564986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82904" y="491491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8925" y="478419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15813" y="429670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68858" y="551038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4756" y="455714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49360" y="401612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72184" y="4718304"/>
            <a:ext cx="164592" cy="1645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8795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Grid 100×100 (ilustrasi konseptual)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749040"/>
            <a:ext cx="8534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Konfigurasi lain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417880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178808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247006111139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456285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Sumber makanan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56285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4946904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Obstacle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946904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330952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Iterasi benchmark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5330952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5715000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Maks. iterasi config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5715000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1.000 (override CLI)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609904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Pheromone decay / deposit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6099048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0,1 / 10,0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648309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Alpha / beta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648309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1,0 / 2,0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ARSITEKTUR HYBRID COMPUTING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Dua jalur: ProcessPool (CPU) + ThreadPool (I/O), satu main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64792"/>
            <a:ext cx="11094415" cy="658368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Main process — ANT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9397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Pegang state global (world + 1.390 semut) · bangun snapshot grid · bagi ant jadi chunk · terapkan world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5272887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272887" cy="47548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49071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Jalur A — ProcessPoolExecutor   (CPU-bound)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64408"/>
            <a:ext cx="4870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• Menerima chunk state semut + snapshot 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67328"/>
            <a:ext cx="4870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• Menghitung keputusan/pergerakan semut (bytecode Python)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70248"/>
            <a:ext cx="4870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• GIL: proses punya interpreter sendiri → paralel sejati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773168"/>
            <a:ext cx="4870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• Mengembalikan hasil lokal (posisi, event) ke main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0167" y="2606040"/>
            <a:ext cx="5272887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0167" y="2606040"/>
            <a:ext cx="5272887" cy="47548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2679192"/>
            <a:ext cx="49071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Jalur B — ThreadPoolExecutor   (I/O-bound)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1335" y="3264408"/>
            <a:ext cx="4870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• Checkpoint JSON · statistik JSON · CSV hasil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1335" y="3767328"/>
            <a:ext cx="4870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• Pembaruan state dashboard (submit, ditunggu saat perlu)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1335" y="4270248"/>
            <a:ext cx="4870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• Dikirim sebagai future; tidak menunggu sendiri saat antre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1335" y="4773168"/>
            <a:ext cx="4870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• Thread berbagi satu proses → ringan untuk kerja menunggu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85083" y="2423160"/>
            <a:ext cx="0" cy="18288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06611" y="2423160"/>
            <a:ext cx="0" cy="18288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" y="5541264"/>
            <a:ext cx="11094415" cy="54864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14416"/>
            <a:ext cx="106372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0E1F3C"/>
                </a:solidFill>
                <a:latin typeface="Calibri"/>
              </a:rPr>
              <a:t>Koordinasi main process:  snapshot → chunk → submit ke ProcessPool → 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0E1F3C"/>
                </a:solidFill>
                <a:latin typeface="Calibri"/>
              </a:rPr>
              <a:t>barrier (tunggu semua future) → urutkan per chunk_id → merge deterministik → world update → iterasi berikutnya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63056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394B"/>
                </a:solidFill>
                <a:latin typeface="Calibri"/>
              </a:rPr>
              <a:t>MPI tidak digunakan — eksperimen berjalan pada satu komputer (tidak ada node/rank).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7538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5275384" cy="64008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309360"/>
            <a:ext cx="481818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E8F7"/>
                </a:solidFill>
                <a:latin typeface="Calibri"/>
              </a:rPr>
              <a:t>Dashboard ANT WORLD — screenshot asli (laporan, Gambar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502920"/>
            <a:ext cx="5333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Dashboard ANT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822960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960120"/>
            <a:ext cx="5333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600" b="1">
                <a:solidFill>
                  <a:srgbClr val="0E1F3C"/>
                </a:solidFill>
                <a:latin typeface="Cambria"/>
              </a:rPr>
              <a:t>Yang bisa diamati saat 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965960"/>
            <a:ext cx="54864" cy="4572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47672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Peta simulasi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03704"/>
            <a:ext cx="5105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Grid, posisi semut, feromon, sumber makanan, dan sarang ditampilkan pada canvas, dengan legenda serta opsi 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926080"/>
            <a:ext cx="54864" cy="4572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907792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Panel status &amp; objek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163824"/>
            <a:ext cx="5105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Status/iterasi, jumlah semut, makanan tersedia/terkumpul, dan panjang lintasan.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886200"/>
            <a:ext cx="54864" cy="4572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867912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Panel hybrid computing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23944"/>
            <a:ext cx="5105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Menampilkan pembagian tugas I/O-bound dan CPU-bound, jumlah thread/process, data, dan seed.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846320"/>
            <a:ext cx="54864" cy="4572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828032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Telemetry performa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084064"/>
            <a:ext cx="5105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B2230"/>
                </a:solidFill>
                <a:latin typeface="Calibri"/>
              </a:rPr>
              <a:t>Execution time, throughput, speedup, dan efficiency untuk sesi yang berjalan.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IMPLEMENTASI TEKNIS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Setiap teknologi dan perannya di ANT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73152" cy="603504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01952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Python 3.14.3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938528"/>
            <a:ext cx="56080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Bahasa implementasi seluruh proyek.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33472"/>
            <a:ext cx="73152" cy="6035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615184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651760"/>
            <a:ext cx="56080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Grid world: makanan (int), obstacle (bool), feromon (float); vektor posisi &amp; operasi metrik.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46704"/>
            <a:ext cx="73152" cy="6035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328416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concurrent.futures — ProcessPoolExecutor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64992"/>
            <a:ext cx="56080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Worker CPU-bound: gerak &amp; keputusan semut (src/parallel.py, worker_step_ants).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6"/>
            <a:ext cx="73152" cy="60350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041648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Calibri"/>
              </a:rPr>
              <a:t>concurrent.futures — ThreadPoolExecutor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078224"/>
            <a:ext cx="56080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Tugas I/O: checkpoint JSON, statistik, CSV, state dashboard (src/io_tasks.py).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73168"/>
            <a:ext cx="73152" cy="6035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754880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multiprocessing (via ProcessPool)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791456"/>
            <a:ext cx="56080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Proses terpisah = interpreter &amp; GIL sendiri → paralelisme CPU sejati.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73152" cy="603504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468112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6372"/>
                </a:solidFill>
                <a:latin typeface="Calibri"/>
              </a:rPr>
              <a:t>matplotlib / 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504688"/>
            <a:ext cx="56080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Pembuat grafik benchmark dan tabel hasil (scripts/benchmark.py).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A6372"/>
                </a:solidFill>
                <a:latin typeface="Calibri"/>
              </a:rPr>
              <a:t>Tidak ada teknologi yang dipakai tanpa peran nyata di kode; daftar ini memetakan setiap pustaka ke fungsinya.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HASIL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Pada konfigurasi personal, hybrid menyelesaikan lebih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2E9E6B"/>
                </a:solidFill>
                <a:latin typeface="Cambria"/>
              </a:rPr>
              <a:t>1,4878×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speedup  (T_serial / T_hybrid)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4206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Serial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0E1F3C"/>
                </a:solidFill>
                <a:latin typeface="Cambria"/>
              </a:rPr>
              <a:t>4,597952 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Hybrid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1C5BA8"/>
                </a:solidFill>
                <a:latin typeface="Cambria"/>
              </a:rPr>
              <a:t>3,090437 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937760" y="1783080"/>
          <a:ext cx="6705295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37760" y="5943600"/>
            <a:ext cx="6705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Efisiensi 49,59%  ·  Throughput 449,77 ants/s  ·  Food collected = 0 pada semua konfigurasi uji.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5A6372"/>
                </a:solidFill>
                <a:latin typeface="Calibri"/>
              </a:rPr>
              <a:t>Catatan: speedup ini perbandingan performa, bukan bukti simulasi berjalan benar secara fungsional.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PERBANDINGAN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Menambah skala mengubah jawabannya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1097280" y="3324112"/>
            <a:ext cx="5715000" cy="0"/>
          </a:xfrm>
          <a:prstGeom prst="line">
            <a:avLst/>
          </a:prstGeom>
          <a:ln w="19050">
            <a:solidFill>
              <a:srgbClr val="5A63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3049792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A6372"/>
                </a:solidFill>
                <a:latin typeface="Calibri"/>
              </a:rPr>
              <a:t>1,0×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9" y="1828800"/>
            <a:ext cx="43735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5BA8"/>
                </a:solidFill>
                <a:latin typeface="Calibri"/>
              </a:rPr>
              <a:t>Data lengkap (Tabel 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69479" y="2148840"/>
          <a:ext cx="4343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051560"/>
                <a:gridCol w="1051560"/>
                <a:gridCol w="914400"/>
              </a:tblGrid>
              <a:tr h="4297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Konfigurasi</a:t>
                      </a:r>
                    </a:p>
                  </a:txBody>
                  <a:tcPr anchor="ctr"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Serial</a:t>
                      </a:r>
                    </a:p>
                  </a:txBody>
                  <a:tcPr anchor="ctr"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anchor="ctr"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 anchor="ctr">
                    <a:solidFill>
                      <a:srgbClr val="0E1F3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5T·3P·1.390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4,597952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3,090437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9E6B"/>
                          </a:solidFill>
                          <a:latin typeface="Calibri"/>
                        </a:rPr>
                        <a:t>1,4878×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1T·3P·1.390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4,668423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3,134073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9E6B"/>
                          </a:solidFill>
                          <a:latin typeface="Calibri"/>
                        </a:rPr>
                        <a:t>1,4896×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5T·2P·1.390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4,944367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3,516699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9E6B"/>
                          </a:solidFill>
                          <a:latin typeface="Calibri"/>
                        </a:rPr>
                        <a:t>1,4060×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5T·3P·500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1,982886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B2230"/>
                          </a:solidFill>
                          <a:latin typeface="Calibri"/>
                        </a:rPr>
                        <a:t>2,157669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4B"/>
                          </a:solidFill>
                          <a:latin typeface="Calibri"/>
                        </a:rPr>
                        <a:t>0,9190×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69479" y="4480560"/>
            <a:ext cx="437357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C0394B"/>
                </a:solidFill>
                <a:latin typeface="Calibri"/>
              </a:rPr>
              <a:t>Bacaan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500 semut → hybrid lebih lambat (0,9190×).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Tiga konfigurasi 1.390 semut tetap &gt; 1,0×; speedup tidak linear.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EVALUASI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Terukur, terlihat di desain, dan masih perlu profiling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15258" cy="352044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31129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Sudah diukur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41448"/>
            <a:ext cx="311292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Waktu serial &amp; hybrid (Tabel 5)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Speedup, efisiensi, throughput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Kecocokan hasil serial vs hybrid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500 semut → 0,9190× (lebih lambat)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83080"/>
            <a:ext cx="3515258" cy="352044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386" y="1965960"/>
            <a:ext cx="31129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E1F3C"/>
                </a:solidFill>
                <a:latin typeface="Calibri"/>
              </a:rPr>
              <a:t>Terlihat di desain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386" y="2441448"/>
            <a:ext cx="311292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Pickling state semut &amp; snapshot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IPC antarproses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Barrier menunggu worker terakhir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Merge serial di main process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3 worker pada 2 core / 4 logical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83080"/>
            <a:ext cx="3515258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8964" y="1965960"/>
            <a:ext cx="31129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C0394B"/>
                </a:solidFill>
                <a:latin typeface="Calibri"/>
              </a:rPr>
              <a:t>Perlu profiling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8964" y="2441448"/>
            <a:ext cx="311292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Besar biaya pickling / IPC / transfer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Proporsi waktu merge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Waktu I/O terpisah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Penggunaan memori saat 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58968"/>
            <a:ext cx="11094415" cy="603504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50408"/>
            <a:ext cx="1063721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Keterbatasan fungsional: Food collected = 0 di semua konfigurasi → belum ada perjalanan makanan yang selesai; perlu ditelusuri.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KESIMPULAN &amp; PENGEMBANGAN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Arsitektur jalan; manfaat tergantung ukuran kerja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18607" cy="356616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Yang sudah dicapai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4769967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DCE8F7"/>
                </a:solidFill>
                <a:latin typeface="Calibri"/>
              </a:rPr>
              <a:t>Hybrid computing berjalan: ProcessPool (CPU) + ThreadPool (I/O).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DCE8F7"/>
                </a:solidFill>
                <a:latin typeface="Calibri"/>
              </a:rPr>
              <a:t>Main process memegang state global; hasil deterministik.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1">
                <a:solidFill>
                  <a:srgbClr val="2E9E6B"/>
                </a:solidFill>
                <a:latin typeface="Calibri"/>
              </a:rPr>
              <a:t>Personal 1.390 semut: 1,4878× (lebih cepat).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1">
                <a:solidFill>
                  <a:srgbClr val="C0394B"/>
                </a:solidFill>
                <a:latin typeface="Calibri"/>
              </a:rPr>
              <a:t>500 semut: 0,9190× (lebih lambat).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DCE8F7"/>
                </a:solidFill>
                <a:latin typeface="Calibri"/>
              </a:rPr>
              <a:t>Keterbatasan: Food collected = 0; sekali ukur per konfigurasi.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318607" cy="356616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C5BA8"/>
                </a:solidFill>
                <a:latin typeface="Calibri"/>
              </a:rPr>
              <a:t>Pengembangan berikutnya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769967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1. Selidiki penyebab Food collected = 0.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2. Tambah uji fungsional pergerakan &amp; pengumpulan makanan.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3. Ulangi benchmark beberapa kali untuk median &amp; variasi.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4. Profiling sebelum optimasi lanjutan.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22960" y="5541264"/>
            <a:ext cx="592531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15491" y="5541264"/>
            <a:ext cx="592531" cy="329184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08022" y="5504688"/>
            <a:ext cx="625450" cy="365760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5504688"/>
            <a:ext cx="625449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258921" y="5468112"/>
            <a:ext cx="855879" cy="292608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69771" y="5495544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2302" y="582472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87752" y="545896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13201" y="5715000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88720"/>
            <a:ext cx="6035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Terima kasih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4A90D9"/>
                </a:solidFill>
                <a:latin typeface="Calibri"/>
              </a:rPr>
              <a:t>Tanya jawab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6035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DCE8F7"/>
                </a:solidFill>
                <a:latin typeface="Calibri"/>
              </a:rPr>
              <a:t>Ripki Maulana · NIM 247006111139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Program Studi Informatika — Universitas Siliwangi — 2026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A90D9"/>
                </a:solidFill>
                <a:latin typeface="Calibri"/>
              </a:rPr>
              <a:t>Demo: antworld-production.up.railway.app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A90D9"/>
                </a:solidFill>
                <a:latin typeface="Calibri"/>
              </a:rPr>
              <a:t>Sumber: github.com/ripkimaulana1210-del/AntWorld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188720"/>
            <a:ext cx="4602175" cy="4572000"/>
          </a:xfrm>
          <a:prstGeom prst="roundRect">
            <a:avLst/>
          </a:prstGeom>
          <a:solidFill>
            <a:srgbClr val="162C54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371600"/>
            <a:ext cx="4190695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Referensi inti (IEEE)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[1] Python Software Foundation. concurrent.futures, Python 3 docs.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[2] Python Software Foundation. multiprocessing, Python 3 docs.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[3] Python Software Foundation. threading, Python 3 docs.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[4] G. M. Amdahl, Validity of the Single Processor Approach, 1967.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[5] Dorigo, Maniezzo &amp; Colorni, Ant System, IEEE Trans. SMC-B, 1996.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[6] P. S. Pacheco, An Introduction to Parallel Programming, 2011.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[7] Prodi Informatika Unsil, Naskah Soal UTS,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