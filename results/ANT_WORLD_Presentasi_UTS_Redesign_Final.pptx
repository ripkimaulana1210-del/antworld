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Waktu eksekusi (detik) — label nilai pada batang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Serial (s)</c:v>
                </c:pt>
              </c:strCache>
            </c:strRef>
          </c:tx>
          <c:spPr>
            <a:solidFill>
              <a:srgbClr val="132A4C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5T·3P·1.390</c:v>
                </c:pt>
                <c:pt idx="1">
                  <c:v>1T·3P·1.390</c:v>
                </c:pt>
                <c:pt idx="2">
                  <c:v>5T·2P·1.390</c:v>
                </c:pt>
                <c:pt idx="3">
                  <c:v>5T·3P·500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4.597952</c:v>
                </c:pt>
                <c:pt idx="1">
                  <c:v>4.668423</c:v>
                </c:pt>
                <c:pt idx="2">
                  <c:v>4.944367</c:v>
                </c:pt>
                <c:pt idx="3">
                  <c:v>1.982886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(s)</c:v>
                </c:pt>
              </c:strCache>
            </c:strRef>
          </c:tx>
          <c:spPr>
            <a:solidFill>
              <a:srgbClr val="1F6FEB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5T·3P·1.390</c:v>
                </c:pt>
                <c:pt idx="1">
                  <c:v>1T·3P·1.390</c:v>
                </c:pt>
                <c:pt idx="2">
                  <c:v>5T·2P·1.390</c:v>
                </c:pt>
                <c:pt idx="3">
                  <c:v>5T·3P·500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3.090437</c:v>
                </c:pt>
                <c:pt idx="1">
                  <c:v>3.134073</c:v>
                </c:pt>
                <c:pt idx="2">
                  <c:v>3.516699</c:v>
                </c:pt>
                <c:pt idx="3">
                  <c:v>2.157669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Satu kalimat pembuka: ini simulasi koloni semut paralel; pertanyaan intinya kapan paralelisme hybrid membayar biayanya. Sebut nama dan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masalah: keputusan agen bersifat lokal tetapi jumlahnya besar dan berulang. Inilah alasan mengevaluasi hybrid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Perkenalkan objek: grid, sarang, semut, makanan, rintangan, feromon. Jelaskan siklus eksplorasi → ambil makanan → kembali → deposit feromon. Grid adalah skema, bukan hasil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parameter utama dan asalnya dari NIM. Seed = nilai NIM untuk determinisme serial vs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Bandingkan peran CPU-bound dan I/O-bound. GIL = alasan proses untuk kerja CPU, thread untuk kerja I/O. Jangan klaim semua pekerjaan jadi lebih cepat.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inti Bagian A: DUA jalur. CPU → ProcessPool (gerak semut). I/O → ThreadPool (checkpoint/stats/dashboard). Main process memegang world state + barrier + merge. MPI tidak dipakai. Diagram diverifikasi terhadap src/parallel.py &amp; src/io_tasks.py.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Telusuri pipeline: baca state → snapshot → chunk → ProcessPool → barrier → merge → world update. Jalur I/O berjalan asinkron di sampingnya.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Hubungkan tiap teknologi dengan fungsinya. ProcessPoolExecutor = CPU; ThreadPoolExecutor = I/O; ThreadingHTTPServer =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Tampilkan screenshot dashboard ASLI. Tunjukkan peta, status/iterasi, jumlah semut &amp; makanan, konfigurasi worker, telemetry. Bukan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pengaturan eksperimen: serial vs hybrid berpasangan, 100 iterasi, tanpa dashboard, metrik yang dicatat. Bedakan setup dari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serial vs hybrid dengan label nilai. Sorot 1,4878× dan 1,4896× (lebih cepat) DAN 0,9190× pada 500 semut (lebih lambat) — jangan sembunyikan hasil yang buruk.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Bahas speedup, efisiensi, throughput, pengaruh beban. Bedakan penyebab terukur dari kemungkinan penjelas yang belum dibuktikan (serialisasi/IPC/barrier/merge/kontensi).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Jujur soal food=0 dan bedakan determinisme dari kebenaran fungsional. Sebut keterbatasan: sekali ukur, tanpa profiling biaya, satu mesin.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Simpulkan manfaat berdasarkan hasil aktual dan batasan. Prioritaskan menyelidiki food=0, uji fungsional, ulangi benchmark, profiling. Referensi dapat ditelusuri.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223760" y="5015483"/>
            <a:ext cx="859536" cy="288037"/>
          </a:xfrm>
          <a:prstGeom prst="line">
            <a:avLst/>
          </a:prstGeom>
          <a:ln w="31750">
            <a:solidFill>
              <a:srgbClr val="8FB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083296" y="5015483"/>
            <a:ext cx="859536" cy="370333"/>
          </a:xfrm>
          <a:prstGeom prst="line">
            <a:avLst/>
          </a:prstGeom>
          <a:ln w="31750">
            <a:solidFill>
              <a:srgbClr val="8FB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42832" y="4974336"/>
            <a:ext cx="859536" cy="411480"/>
          </a:xfrm>
          <a:prstGeom prst="line">
            <a:avLst/>
          </a:prstGeom>
          <a:ln w="31750">
            <a:solidFill>
              <a:srgbClr val="8FB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02368" y="4974336"/>
            <a:ext cx="859536" cy="288036"/>
          </a:xfrm>
          <a:prstGeom prst="line">
            <a:avLst/>
          </a:prstGeom>
          <a:ln w="31750">
            <a:solidFill>
              <a:srgbClr val="8FB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661904" y="4933188"/>
            <a:ext cx="859536" cy="329184"/>
          </a:xfrm>
          <a:prstGeom prst="line">
            <a:avLst/>
          </a:prstGeom>
          <a:ln w="31750">
            <a:solidFill>
              <a:srgbClr val="8FB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028431" y="4960620"/>
            <a:ext cx="109728" cy="109728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87968" y="5330952"/>
            <a:ext cx="109728" cy="109728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47504" y="4919472"/>
            <a:ext cx="109728" cy="109728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0" y="5207508"/>
            <a:ext cx="109728" cy="109728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FB8F5"/>
                </a:solidFill>
                <a:latin typeface="Arial"/>
              </a:rPr>
              <a:t>UJIAN TENGAH SEMESTER — KOMPUTASI PARALEL DAN TERDISTRIBUSI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 Black"/>
              </a:rPr>
              <a:t>ANT WORLD</a:t>
            </a:r>
          </a:p>
          <a:p>
            <a:pPr algn="l">
              <a:spcAft>
                <a:spcPts val="0"/>
              </a:spcAft>
            </a:pPr>
            <a:r>
              <a:rPr sz="2500" b="1">
                <a:solidFill>
                  <a:srgbClr val="8FB8F5"/>
                </a:solidFill>
                <a:latin typeface="Arial"/>
              </a:rPr>
              <a:t>Hybrid Parallel Ant Colony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Hybrid Computing for Real-World Simulation and Data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526280"/>
            <a:ext cx="3108960" cy="365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Ripki Maulana   ·   NIM 247006111139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FB8F5"/>
                </a:solidFill>
                <a:latin typeface="Arial"/>
              </a:rPr>
              <a:t>Program Studi Informatika · Fakultas Teknik · Universitas Siliwangi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MASALAH &amp; MOTIVASI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Banyak keputusan agen, diulang tiap iterasi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82296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1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B34"/>
                </a:solidFill>
                <a:latin typeface="Arial"/>
              </a:rPr>
              <a:t>Agen lokal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Tiap semut memilih langkah hanya dari feromon tetangga dan jarak ke sarang.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90087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90087"/>
            <a:ext cx="82296" cy="960120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59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B34"/>
                </a:solidFill>
                <a:latin typeface="Arial"/>
              </a:rPr>
              <a:t>Efek kolektif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7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Perilaku koloni muncul dari interaksi lokal (swarm intelligence), bukan kendali pusat.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05655"/>
            <a:ext cx="6766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05655"/>
            <a:ext cx="82296" cy="960120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24527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B34"/>
                </a:solidFill>
                <a:latin typeface="Arial"/>
              </a:rPr>
              <a:t>Beban berulang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62855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Setiap iterasi menghitung keputusan untuk 1.390 agen, berulang ratusan kali.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874519"/>
            <a:ext cx="3779215" cy="3291840"/>
          </a:xfrm>
          <a:prstGeom prst="roundRect">
            <a:avLst/>
          </a:prstGeom>
          <a:solidFill>
            <a:srgbClr val="0B1B34"/>
          </a:solidFill>
          <a:ln w="12700">
            <a:solidFill>
              <a:srgbClr val="0B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21488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FB8F5"/>
                </a:solidFill>
                <a:latin typeface="Arial"/>
              </a:rPr>
              <a:t>Pertanyaan inti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606039"/>
            <a:ext cx="3749039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Bisakah simulasi iteratif ini dipercepat tanpa mengubah hasil?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FB8F5"/>
                </a:solidFill>
                <a:latin typeface="Arial"/>
              </a:rPr>
              <a:t>Menjawabnya = mengevaluasi pendekatan hybrid pada beban nyata.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MENGENAL ANT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Grid dunia: sarang, semut, makanan, rintangan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7452" y="3593051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90439" y="4815598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1083" y="2638121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95518" y="3777871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9104" y="3747956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38418" y="4501363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8480" y="3880336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0620" y="3975010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8783" y="4667726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7834" y="4660891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3290" y="4197932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59018" y="2734658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1239" y="5052651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3528" y="5293199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96475" y="2135523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4180" y="3780920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39094" y="3438925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37497" y="4282014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14784" y="1959124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71126" y="3117782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4003" y="3238267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3150" y="3579164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8315" y="3606194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5474" y="3926998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9334" y="5009688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24603" y="3310743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07663" y="3513280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11521" y="1961302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07922" y="2315677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7268" y="4284364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72892" y="2225316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68289" y="3481990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8837" y="2657418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69802" y="4017642"/>
            <a:ext cx="146304" cy="146304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3903" y="3471236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01717" y="5232635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96085" y="3778704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8293" y="2920935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60660" y="3581765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269066" y="4883037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13186" y="2875853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55224" y="1987143"/>
            <a:ext cx="164592" cy="164592"/>
          </a:xfrm>
          <a:prstGeom prst="ellipse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13432" y="3547872"/>
            <a:ext cx="219456" cy="219456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06264" y="3938954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23912" y="3681849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2064" y="5059655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39134" y="3552856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07238" y="4730132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32736" y="3802649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75984" y="4748207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34583" y="5043417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0103" y="4257153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53669" y="3655181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513831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Ilustrasi skematik grid 100×100 (bukan hasil pengukuran runtime).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897879"/>
            <a:ext cx="164592" cy="164592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" y="58795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B2230"/>
                </a:solidFill>
                <a:latin typeface="Arial"/>
              </a:rPr>
              <a:t>Sarang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4480" y="5897879"/>
            <a:ext cx="164592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73936" y="58795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B2230"/>
                </a:solidFill>
                <a:latin typeface="Arial"/>
              </a:rPr>
              <a:t>Semut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68880" y="5897879"/>
            <a:ext cx="164592" cy="164592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88336" y="58795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B2230"/>
                </a:solidFill>
                <a:latin typeface="Arial"/>
              </a:rPr>
              <a:t>Makanan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80" y="5897879"/>
            <a:ext cx="164592" cy="164592"/>
          </a:xfrm>
          <a:prstGeom prst="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02736" y="58795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B2230"/>
                </a:solidFill>
                <a:latin typeface="Arial"/>
              </a:rPr>
              <a:t>Rintangan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920240"/>
            <a:ext cx="59737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B34"/>
                </a:solidFill>
                <a:latin typeface="Arial"/>
              </a:rPr>
              <a:t>Siklus eksplorasi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77840" y="2377439"/>
            <a:ext cx="59737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77840" y="2377439"/>
            <a:ext cx="82296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33872" y="2468879"/>
            <a:ext cx="55165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1. Cari makanan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33872" y="2798063"/>
            <a:ext cx="5516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menjelajah tetangga; feromon + heuristic jarak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577840" y="3310127"/>
            <a:ext cx="59737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77840" y="3310127"/>
            <a:ext cx="82296" cy="841248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33872" y="3401568"/>
            <a:ext cx="55165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2. Ambil makanan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33872" y="3730752"/>
            <a:ext cx="5516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satu unit saat mencapai sumber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577840" y="4242816"/>
            <a:ext cx="59737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577840" y="4242816"/>
            <a:ext cx="82296" cy="841248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33872" y="4334255"/>
            <a:ext cx="55165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3. Kembali ke sarang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33872" y="4663440"/>
            <a:ext cx="5516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heuristik jarak ke nest; simpan path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577840" y="5175504"/>
            <a:ext cx="59737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577840" y="5175504"/>
            <a:ext cx="82296" cy="841248"/>
          </a:xfrm>
          <a:prstGeom prst="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33872" y="5266944"/>
            <a:ext cx="55165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4. Deposit feromon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33872" y="5596128"/>
            <a:ext cx="5516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rute sukses menandai jalur; feromon menguap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KONFIGURASI EKSPERIMEN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Angka-angka personal dari NIM 247006111139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39333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93338" cy="54864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33933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Dunia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3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5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100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7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Sumber makanan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94176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Rintangan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71416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5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Sarang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5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(50, 50)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9178" y="1828800"/>
            <a:ext cx="339333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9178" y="1828800"/>
            <a:ext cx="3393338" cy="548640"/>
          </a:xfrm>
          <a:prstGeom prst="round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9178" y="1938528"/>
            <a:ext cx="33933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Paralelisme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60603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Semut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498" y="2916935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1.390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498" y="338327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Thread I/O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498" y="3694176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498" y="4160520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Worker proses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4471416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498" y="493775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Seed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3498" y="5248655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247006111139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8276" y="1828800"/>
            <a:ext cx="3393338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58276" y="1828800"/>
            <a:ext cx="3393338" cy="548640"/>
          </a:xfrm>
          <a:prstGeom prst="round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8276" y="1938528"/>
            <a:ext cx="339333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Algoritma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596" y="260603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Pheromone decay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2596" y="2916935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0,1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596" y="338327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Pheromone deposit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2596" y="3694176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10,0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596" y="4160520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Alpha / beta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2596" y="4471416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1,0 / 2,0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2596" y="4937759"/>
            <a:ext cx="284469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Iterasi benchmark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596" y="5248655"/>
            <a:ext cx="284469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2230"/>
                </a:solidFill>
                <a:latin typeface="Arial"/>
              </a:rP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97879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Arial"/>
              </a:rPr>
              <a:t>Parameter personal: thread = 39 mod 4 + 2, proses = 61 mod 3 + 2, data = 139 × 10. Maksimum konfigurasi 1.000 iterasi; benchmark memakai 100.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MENGAPA HYBRID?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Dua jenis beban kerja memerlukan dua mekanisme berbeda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27167" cy="3383280"/>
          </a:xfrm>
          <a:prstGeom prst="round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2103120"/>
            <a:ext cx="458708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CPU-bound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606039"/>
            <a:ext cx="45870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FB8F5"/>
                </a:solidFill>
                <a:latin typeface="Arial"/>
              </a:rPr>
              <a:t>→ ProcessPoolExecutor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154680"/>
            <a:ext cx="4587087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Menghitung keputusan &amp; pergerakan semut, yaitu bytecode Python murni.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GIL CPython mencegah thread menjalankan bytecode Python paralel.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8FB8F5"/>
                </a:solidFill>
                <a:latin typeface="Arial"/>
              </a:rPr>
              <a:t>Proses punya interpreter &amp; GIL sendiri → paralelisme CPU nyata.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9E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103120"/>
            <a:ext cx="458708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A9E6C"/>
                </a:solidFill>
                <a:latin typeface="Arial"/>
              </a:rPr>
              <a:t>I/O-bound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606039"/>
            <a:ext cx="45870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9E6C"/>
                </a:solidFill>
                <a:latin typeface="Arial"/>
              </a:rPr>
              <a:t>→ ThreadPoolExecutor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3154680"/>
            <a:ext cx="4587087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0">
                <a:solidFill>
                  <a:srgbClr val="1B2230"/>
                </a:solidFill>
                <a:latin typeface="Arial"/>
              </a:rPr>
              <a:t>Checkpoint JSON, statistik/CSV, dan pembaruan state dashboard.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0">
                <a:solidFill>
                  <a:srgbClr val="1B2230"/>
                </a:solidFill>
                <a:latin typeface="Arial"/>
              </a:rPr>
              <a:t>Tugas lebih banyak menunggu file/jaringan daripada menghitung.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A9E6C"/>
                </a:solidFill>
                <a:latin typeface="Arial"/>
              </a:rPr>
              <a:t>Saat satu thread menunggu, thread lain berjalan; ringan karena berbagi proses.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49240"/>
            <a:ext cx="10911535" cy="566928"/>
          </a:xfrm>
          <a:prstGeom prst="round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79"/>
            <a:ext cx="1036289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B34"/>
                </a:solidFill>
                <a:latin typeface="Arial"/>
              </a:rPr>
              <a:t>Bukan klaim "semua lebih cepat": hybrid hanya relevan bila beban CPU cukup besar untuk menutup biaya koordinasi.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ARSITEKTUR SISTEM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ProcessPool (CPU) dan ThreadPool (I/O) di bawah satu main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731520"/>
          </a:xfrm>
          <a:prstGeom prst="round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56231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MAIN PROCESS — World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B8F5"/>
                </a:solidFill>
                <a:latin typeface="Arial"/>
              </a:rPr>
              <a:t>World + 1.390 semut · build snapshot grid · bagi ant jadi chunk · merge hasil · update world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181447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181447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24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JALUR CPU — ProcessPoolExecutor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Menerima chunk state semut + snapshot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7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Menghitung keputusan/pergerakan semut (bytecode 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Proses terpisah → interpreter &amp; GIL sendiri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55464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Mengembalikan hasil lokal ke main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167" y="2743200"/>
            <a:ext cx="5181447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9E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70167" y="2743200"/>
            <a:ext cx="5181447" cy="502920"/>
          </a:xfrm>
          <a:prstGeom prst="round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2834640"/>
            <a:ext cx="4724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JALUR I/O — ThreadPoolExecutor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87" y="3429000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Checkpoint JSON · statistik JSON · CSV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3904487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Pembaruan state dashboard (ThreadingHTTPServer)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4379976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Dikirim sebagai future; ditunggu saat hasilnya perlu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855464"/>
            <a:ext cx="46328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Arial"/>
              </a:rPr>
              <a:t>• Berbagi satu proses → ringan untuk kerja menunggu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30803" y="2514600"/>
            <a:ext cx="0" cy="22860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0891" y="2514600"/>
            <a:ext cx="0" cy="22860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" y="5623560"/>
            <a:ext cx="10911535" cy="566928"/>
          </a:xfrm>
          <a:prstGeom prst="roundRect">
            <a:avLst/>
          </a:prstGeom>
          <a:solidFill>
            <a:srgbClr val="E7EBF0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78424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0B1B34"/>
                </a:solidFill>
                <a:latin typeface="Arial"/>
              </a:rPr>
              <a:t>Sinkronisasi:  snapshot → chunk → submit ke ProcessPool → barrier (tunggu semua future) → urutkan per chunk_id → merge → world update → iterasi berikutnya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81928"/>
            <a:ext cx="109115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394B"/>
                </a:solidFill>
                <a:latin typeface="Arial"/>
              </a:rPr>
              <a:t>MPI tidak digunakan; implementasi berjalan pada satu komputer (tanpa node/rank).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ALUR SATU ITERASI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Dari snapshot hingga world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1417711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Baca state
global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791" y="2766060"/>
            <a:ext cx="164592" cy="0"/>
          </a:xfrm>
          <a:prstGeom prst="line">
            <a:avLst/>
          </a:prstGeom>
          <a:ln w="22225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22383" y="2240280"/>
            <a:ext cx="1417711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2383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Snapshot
world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40095" y="2766060"/>
            <a:ext cx="164592" cy="0"/>
          </a:xfrm>
          <a:prstGeom prst="line">
            <a:avLst/>
          </a:prstGeom>
          <a:ln w="22225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04687" y="2240280"/>
            <a:ext cx="1417711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4687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Bagi semut
jadi chunk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22399" y="2766060"/>
            <a:ext cx="164592" cy="0"/>
          </a:xfrm>
          <a:prstGeom prst="line">
            <a:avLst/>
          </a:prstGeom>
          <a:ln w="22225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6991" y="2240280"/>
            <a:ext cx="1417711" cy="1051560"/>
          </a:xfrm>
          <a:prstGeom prst="roundRect">
            <a:avLst/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6991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ProcessPool
hitung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04703" y="2766060"/>
            <a:ext cx="164592" cy="0"/>
          </a:xfrm>
          <a:prstGeom prst="line">
            <a:avLst/>
          </a:prstGeom>
          <a:ln w="22225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69295" y="2240280"/>
            <a:ext cx="1417711" cy="1051560"/>
          </a:xfrm>
          <a:prstGeom prst="roundRect">
            <a:avLst/>
          </a:prstGeom>
          <a:solidFill>
            <a:srgbClr val="13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9295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Barrier
tunggu future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87007" y="2766060"/>
            <a:ext cx="164592" cy="0"/>
          </a:xfrm>
          <a:prstGeom prst="line">
            <a:avLst/>
          </a:prstGeom>
          <a:ln w="22225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51599" y="2240280"/>
            <a:ext cx="1417711" cy="105156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1599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Merge
per chunk_id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69311" y="2766060"/>
            <a:ext cx="164592" cy="0"/>
          </a:xfrm>
          <a:prstGeom prst="line">
            <a:avLst/>
          </a:prstGeom>
          <a:ln w="22225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33903" y="2240280"/>
            <a:ext cx="1417711" cy="1051560"/>
          </a:xfrm>
          <a:prstGeom prst="round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3903" y="2350008"/>
            <a:ext cx="1417711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World
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Worker menghitung state lokal dari snapshot; tidak menulis world global langsung.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Main process menunggu seluruh future, mengurutkan hasil dengan chunk_id, lalu menerapkan update sekali, secara deterministik.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Iterasi berikutnya dimulai setelah world terbaru tersedia.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109115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82296" cy="777240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55464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Di samping pipeline ini, ThreadPool mengirim tugas I/O sebagai future: dijalankan asinkron, ditunggu hanya saat hasilnya diperlukan.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IMPLEMENTASI &amp; TEKNOLOGI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Setiap teknologi dan perannya di proyek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82296" cy="603504"/>
          </a:xfrm>
          <a:prstGeom prst="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56231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Python 3.14.3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92807"/>
            <a:ext cx="51508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Bahasa implementasi seluruh proyek.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87752"/>
            <a:ext cx="8229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9464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1508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Grid world: makanan (int), rintangan (bool), feromon (float); metrik.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00984"/>
            <a:ext cx="8229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82696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concurrent.futures — ProcessPoolExecutor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19272"/>
            <a:ext cx="51508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Worker CPU-bound: gerak &amp; keputusan semut (src/parallel.py).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14216"/>
            <a:ext cx="82296" cy="603504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9E6C"/>
                </a:solidFill>
                <a:latin typeface="Arial"/>
              </a:rPr>
              <a:t>concurrent.futures — ThreadPoolExecutor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32504"/>
            <a:ext cx="51508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Tugas I/O: checkpoint, statistik, CSV, dashboard (src/io_tasks.py).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27448"/>
            <a:ext cx="82296" cy="603504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9E6C"/>
                </a:solidFill>
                <a:latin typeface="Arial"/>
              </a:rPr>
              <a:t>http.server — ThreadingHTTPServer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45736"/>
            <a:ext cx="51508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Dashboard lokal + API state, start/pause/resume/restart.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40680"/>
            <a:ext cx="82296" cy="603504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22392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39218"/>
                </a:solidFill>
                <a:latin typeface="Arial"/>
              </a:rPr>
              <a:t>matplotlib / 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58968"/>
            <a:ext cx="51508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Grafik benchmark dan tabel hasil (scripts/benchmark.py).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Arial"/>
              </a:rPr>
              <a:t>Tidak ada teknologi tanpa peran nyata; daftar ini memetakan pustaka ke fungsinya.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BUKTI APLIKASI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Dashboard ANT WORLD — screenshot asli</a:t>
            </a:r>
          </a:p>
        </p:txBody>
      </p:sp>
      <p:sp>
        <p:nvSpPr>
          <p:cNvPr id="4" name="Rectangle 3"/>
          <p:cNvSpPr/>
          <p:nvPr/>
        </p:nvSpPr>
        <p:spPr>
          <a:xfrm>
            <a:off x="4008937" y="1618488"/>
            <a:ext cx="4173820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089" y="1691640"/>
            <a:ext cx="4027516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99632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Screenshot asli dashboard ANT WORLD (bukti runtime proyek): memuat peta simulasi, panel hybrid computing, dan telemetry.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METODOLOGI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Setiap konfigurasi diukur berpasangan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2082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29967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Eksekusi serial diukur pada workload yang sama sebagai pembanding.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24327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24327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779775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Eksekusi ProcessPool + ThreadPool pada throughput/seed/iterasi identik.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74135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74135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52043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Iterasi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529583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100 iterasi per konfigurasi; seed, jumlah semut, dan iterasi disamakan.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23944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23944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Kondisi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2793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Batch benchmark dijalankan tanpa server dashboard aktif.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73752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73752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2005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Metrik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029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Arial"/>
              </a:rPr>
              <a:t>Execution time, speedup, efisiensi, throughput, dan determinisme hasil.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874519"/>
            <a:ext cx="3596335" cy="3657600"/>
          </a:xfrm>
          <a:prstGeom prst="roundRect">
            <a:avLst/>
          </a:prstGeom>
          <a:solidFill>
            <a:srgbClr val="0B1B34"/>
          </a:solidFill>
          <a:ln w="12700">
            <a:solidFill>
              <a:srgbClr val="0B1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148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8FB8F5"/>
                </a:solidFill>
                <a:latin typeface="Arial"/>
              </a:rPr>
              <a:t>Perangkat uji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06039"/>
            <a:ext cx="3657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Intel Core i3-4160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0">
                <a:solidFill>
                  <a:srgbClr val="8FB8F5"/>
                </a:solidFill>
                <a:latin typeface="Arial"/>
              </a:rPr>
              <a:t>2 physical core · 4 logical processor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RAM ± 7,92 GB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Windows 10 Pro 64-bit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Python 3.14.3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HASIL EKSPERIMEN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Serial vs hybrid per konfigurasi (100 iterasi)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828800"/>
          <a:ext cx="67665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874519"/>
            <a:ext cx="3870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1B34"/>
                </a:solidFill>
                <a:latin typeface="Arial"/>
              </a:rPr>
              <a:t>Speedup (T_serial / T_hybrid)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331720"/>
            <a:ext cx="3870655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2331720"/>
            <a:ext cx="82296" cy="676656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77439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B34"/>
                </a:solidFill>
                <a:latin typeface="Arial"/>
              </a:rPr>
              <a:t>5T·3P·1.390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69747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efisiensi 49,59% · 449,77 ants/s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244144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1A9E6C"/>
                </a:solidFill>
                <a:latin typeface="Arial"/>
              </a:rPr>
              <a:t>1,4878×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099815"/>
            <a:ext cx="3870655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3099815"/>
            <a:ext cx="82296" cy="676656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145535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B34"/>
                </a:solidFill>
                <a:latin typeface="Arial"/>
              </a:rPr>
              <a:t>1T·3P·1.390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65575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efisiensi 49,65% · 443,51 ants/s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3209544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1A9E6C"/>
                </a:solidFill>
                <a:latin typeface="Arial"/>
              </a:rPr>
              <a:t>1,4896×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867911"/>
            <a:ext cx="3870655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3867911"/>
            <a:ext cx="82296" cy="676656"/>
          </a:xfrm>
          <a:prstGeom prst="rect">
            <a:avLst/>
          </a:prstGeom>
          <a:solidFill>
            <a:srgbClr val="1A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913631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B34"/>
                </a:solidFill>
                <a:latin typeface="Arial"/>
              </a:rPr>
              <a:t>5T·2P·1.390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2336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efisiensi 70,30% · 395,26 ants/s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3977639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1A9E6C"/>
                </a:solidFill>
                <a:latin typeface="Arial"/>
              </a:rPr>
              <a:t>1,4060×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636007"/>
            <a:ext cx="3870655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4636007"/>
            <a:ext cx="82296" cy="676656"/>
          </a:xfrm>
          <a:prstGeom prst="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681727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B34"/>
                </a:solidFill>
                <a:latin typeface="Arial"/>
              </a:rPr>
              <a:t>5T·3P·500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001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efisiensi 30,63% · 231,73 ants/s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4745736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C0394B"/>
                </a:solidFill>
                <a:latin typeface="Arial"/>
              </a:rPr>
              <a:t>0,9190×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ANALISIS PERFORMA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Apa yang diukur vs apa yang masih dugaan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72887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724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9E6C"/>
                </a:solidFill>
                <a:latin typeface="Arial"/>
              </a:rPr>
              <a:t>Sudah terukur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4724247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Personal 1.390 semut: 1,4878× (lebih cepat).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>
                <a:solidFill>
                  <a:srgbClr val="C0394B"/>
                </a:solidFill>
                <a:latin typeface="Arial"/>
              </a:rPr>
              <a:t>500 semut: 0,9190× (hybrid lebih lambat).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Efisiensi = speedup / jumlah proses × 100%.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Throughput = jumlah semut / waktu eksekusi.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Manfaat bergantung ukuran beban kerja.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28800"/>
            <a:ext cx="5272887" cy="3749039"/>
          </a:xfrm>
          <a:prstGeom prst="roundRect">
            <a:avLst/>
          </a:prstGeom>
          <a:solidFill>
            <a:srgbClr val="E7EBF0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2057400"/>
            <a:ext cx="4724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394B"/>
                </a:solidFill>
                <a:latin typeface="Arial"/>
              </a:rPr>
              <a:t>Kemungkinan penjelas (belum terbukti)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606039"/>
            <a:ext cx="4724247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• Serialisasi / pickling &amp; transfer snapshot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• IPC antarproses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• Barrier menunggu worker terakhir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• Merge serial di main process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Arial"/>
              </a:rPr>
              <a:t>• Kontensi CPU: 3 worker pada 2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Arial"/>
              </a:rPr>
              <a:t>Biaya-biaya ini terlihat dari desain, tetapi belum diukur terpisah; perlu profiling, bukan diklaim sebagai bottleneck.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KETERBATASAN &amp; VALIDASI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Yang belum dibuktikan oleh pengujian ini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105156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901952"/>
            <a:ext cx="102714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Food collected = 0 pada semua konfigurasi benchmark.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Belum ada perjalanan lengkap makanan kembali ke sarang; benchmark ini belum membuktikan keberhasilan fungsional simulasi.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39"/>
            <a:ext cx="10911535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063239"/>
            <a:ext cx="82296" cy="713232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79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Determinisme ≠ kebenaran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65575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Kesesuaian hasil serial dan hybrid menunjukkan konsistensi pada pengujian ini, bukan bahwa seluruh perilaku simulasi benar.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9624"/>
            <a:ext cx="10911535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49624"/>
            <a:ext cx="82296" cy="713232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4106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Satu kali ukur per konfigurasi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Hasil bersifat observasional; belum ada bukti signifikansi statistik.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36008"/>
            <a:ext cx="10911535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36008"/>
            <a:ext cx="82296" cy="713232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Tanpa pengukuran biaya terpisah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38344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Pickling, IPC, barrier, merge, transfer snapshot, dan memori belum diukur sendiri.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22392"/>
            <a:ext cx="10911535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422392"/>
            <a:ext cx="82296" cy="713232"/>
          </a:xfrm>
          <a:prstGeom prst="rect">
            <a:avLst/>
          </a:prstGeom>
          <a:solidFill>
            <a:srgbClr val="E39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138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B1B34"/>
                </a:solidFill>
                <a:latin typeface="Arial"/>
              </a:rPr>
              <a:t>Satu mesin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24728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Arial"/>
              </a:rPr>
              <a:t>MPI tidak diuji; tidak ada klaim eksekusi multi-node.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EB"/>
                </a:solidFill>
                <a:latin typeface="Arial"/>
              </a:rPr>
              <a:t>KESIMPULAN &amp; REFERENSI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000" b="1">
                <a:solidFill>
                  <a:srgbClr val="0B1B34"/>
                </a:solidFill>
                <a:latin typeface="Arial Black"/>
              </a:rPr>
              <a:t>Manfaat hybrid bergantung ukuran beban kerja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72887" cy="3200400"/>
          </a:xfrm>
          <a:prstGeom prst="roundRect">
            <a:avLst/>
          </a:prstGeom>
          <a:solidFill>
            <a:srgbClr val="0B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724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4724247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Hybrid computing berjalan: ProcessPool (CPU) + ThreadPool (I/O).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1">
                <a:solidFill>
                  <a:srgbClr val="1A9E6C"/>
                </a:solidFill>
                <a:latin typeface="Arial"/>
              </a:rPr>
              <a:t>Personal 1.390 semut dipercepat (1,4878×).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1">
                <a:solidFill>
                  <a:srgbClr val="C0394B"/>
                </a:solidFill>
                <a:latin typeface="Arial"/>
              </a:rPr>
              <a:t>500 semut justru lebih lambat (0,9190×).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Keterbatasan: food=0; sekali ukur; tanpa profiling biaya.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28800"/>
            <a:ext cx="5272887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2057400"/>
            <a:ext cx="47242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Pekerjaan lanjutan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606039"/>
            <a:ext cx="4724247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1. Selidiki penyebab food collected = 0.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1B2230"/>
                </a:solidFill>
                <a:latin typeface="Arial"/>
              </a:rPr>
              <a:t>2. Tambah uji fungsional pergerakan &amp; pengumpulan.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1B2230"/>
                </a:solidFill>
                <a:latin typeface="Arial"/>
              </a:rPr>
              <a:t>3. Ulangi benchmark untuk median &amp; variasi.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Arial"/>
              </a:rPr>
              <a:t>4. Profiling sebelum optimasi lanjutan.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49240"/>
            <a:ext cx="10911535" cy="868680"/>
          </a:xfrm>
          <a:prstGeom prst="roundRect">
            <a:avLst/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79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 b="1">
                <a:solidFill>
                  <a:srgbClr val="0B1B34"/>
                </a:solidFill>
                <a:latin typeface="Arial"/>
              </a:rPr>
              <a:t>Referensi (IEEE)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[1] Python Software Foundation. concurrent.futures, Python 3 docs.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[2] G. M. Amdahl, Validity of the Single Processor Approach, AFIPS, 1967.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Arial"/>
              </a:rPr>
              <a:t>[3] Dorigo, Maniezzo &amp; Colorni, Ant System, IEEE Trans. SMC-B, 1996.  [4] Python Software Foundation. multiprocessing, Python 3 docs.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Arial"/>
              </a:rPr>
              <a:t>ANT WORLD — Hybrid Parallel Ant Colony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