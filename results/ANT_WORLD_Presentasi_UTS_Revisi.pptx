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Waktu eksekusi (detik) — label nilai langsung pada batang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Waktu (s)</c:v>
                </c:pt>
              </c:strCache>
            </c:strRef>
          </c:tx>
          <c:spPr>
            <a:solidFill>
              <a:srgbClr val="0E1F3C"/>
            </a:solidFill>
          </c:spPr>
          <c:dLbls>
            <c:numFmt formatCode="0.000000" sourceLinked="0"/>
            <c:txPr>
              <a:bodyPr/>
              <a:lstStyle/>
              <a:p>
                <a:pPr>
                  <a:defRPr sz="1600" b="1">
                    <a:solidFill>
                      <a:srgbClr val="0E1F3C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Serial</c:v>
                </c:pt>
                <c:pt idx="1">
                  <c:v>Hybrid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4.597952</c:v>
                </c:pt>
                <c:pt idx="1">
                  <c:v>3.090437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Speedup per konfigurasi (garis putus-putus = 1,0×)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Speedup ≥ 1,0× (lebih cepat)</c:v>
                </c:pt>
              </c:strCache>
            </c:strRef>
          </c:tx>
          <c:spPr>
            <a:solidFill>
              <a:srgbClr val="1C5BA8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1200" b="1">
                    <a:solidFill>
                      <a:srgbClr val="1B22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5T–3P
1.390</c:v>
                </c:pt>
                <c:pt idx="1">
                  <c:v>1T–3P
1.390</c:v>
                </c:pt>
                <c:pt idx="2">
                  <c:v>5T–2P
1.390</c:v>
                </c:pt>
                <c:pt idx="3">
                  <c:v>5T–3P
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1.4878</c:v>
                </c:pt>
                <c:pt idx="1">
                  <c:v>1.4896</c:v>
                </c:pt>
                <c:pt idx="2">
                  <c:v>1.406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Speedup &lt; 1,0× (lebih lambat)</c:v>
                </c:pt>
              </c:strCache>
            </c:strRef>
          </c:tx>
          <c:spPr>
            <a:solidFill>
              <a:srgbClr val="C0394B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1200" b="1">
                    <a:solidFill>
                      <a:srgbClr val="1B22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5T–3P
1.390</c:v>
                </c:pt>
                <c:pt idx="1">
                  <c:v>1T–3P
1.390</c:v>
                </c:pt>
                <c:pt idx="2">
                  <c:v>5T–2P
1.390</c:v>
                </c:pt>
                <c:pt idx="3">
                  <c:v>5T–3P
500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3">
                  <c:v>0.919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6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Salam pembuka. Perkenalkan judul: ANT WORLD, simulasi koloni semut paralel hybrid. Sebutkan nama, NIM, dan bahwa presentasi ini meringkas laporan 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perilaku swarm intelligence dan mengapa simulasi ini berat komputasi. Tekankan pertanyaan inti: efisiensi vs konsistensi hasil.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dua jenis beban kerja dan alasan mekanisme berbeda. Tekankan GIL pada CPython: thread tidak memberi paralelisme bytecode Python, sehingga kerja CPU dipetakan ke proses terpisah, sementara kerja I/O cukup di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 asal parameter: thread=39 mod 4+2, process=61 mod 3+2, data=139×10. Tegaskan seed memakai nilai NIM untuk determinisme.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Telusuri alur satu iterasi. Definisikan chunking, barrier, dan merge. Jelaskan bahwa tugas I/O berjalan asinkron dan dinanti bila hasilnya diperlukan; jangan menyatakan jalur I/O selalu bebas blocking.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screenshot dashboard asli dari laporan (Gambar 6). Gambar telah dipotong agar peta simulasi dan panel metrik lebih terbaca; proporsi dipertahankan. Dashboard adalah visualisasi runtime; angka pembanding tetap Tabel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desain berpasangan dan bahwa setiap konfigurasi hanya dijalankan sekali, sehingga hasil bersifat observasional, bukan bukti signifikansi statistik.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grafik batang serial vs hybrid dengan label nilai tepat pada batang. Tegaskan angka berasal dari Tabel 5 laporan dan tidak diubah.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Bandingkan keempat konfigurasi. Batang merah menandai speedup &lt; 1,0× (lebih lambat daripada serial). Garis putus-putus menandai ambang 1,0×.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Pisahkan jelas: mekanisme yang tampak di desain vs dampak yang belum diukur. Jangan mengklaim dugaan bottleneck sudah terbukti kuantitatif. Sebut fakta terukur: 3 worker pada 2 core, dan speedup 0,9190x pada 500 semut.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Ringkas temuan, SERTAKAN keterbatasan: food collected = 0, hasil deterministik, dan hanya satu kali pengukuran per konfigurasi (observasional, bukan uji statistik).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presentasi. Buka sesi tanya jawab. Referensi mengikuti daftar pustaka laporan (tanpa menambah metadata yang tidak terverifikasi).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5394960"/>
            <a:ext cx="146304" cy="14630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20240" y="5029200"/>
            <a:ext cx="146304" cy="14630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43200" y="5394960"/>
            <a:ext cx="146304" cy="14630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66160" y="4937760"/>
            <a:ext cx="146304" cy="14630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9120" y="5303520"/>
            <a:ext cx="146304" cy="14630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12344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UJIAN TENGAH SEMESTER — KOMPUTASI PARALEL DAN TERDISTRIBUSI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mbria"/>
              </a:rPr>
              <a:t>ANT WORLD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DCE8F7"/>
                </a:solidFill>
                <a:latin typeface="Calibri"/>
              </a:rPr>
              <a:t>Hybrid Parallel Ant Colony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7033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A90D9"/>
                </a:solidFill>
                <a:latin typeface="Calibri"/>
              </a:rPr>
              <a:t>Hybrid Computing for Real-World Simulation and Data Processing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434840"/>
            <a:ext cx="2926080" cy="274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61772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Ripki Maulana  •  NIM 247006111139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DCE8F7"/>
                </a:solidFill>
                <a:latin typeface="Calibri"/>
              </a:rPr>
              <a:t>Program Studi Informatika — Fakultas Teknik — Universitas Siliwangi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Masalah: banyak keputusan agen tiap iterasi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5778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Semut menjelajah dari sarang untuk menemukan makanan, lalu kembali ke sarang.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Feromon menjadi jejak tidak langsung yang memengaruhi keputusan berikutnya.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Interaksi lokal antarbanyak agen membentuk perilaku kolektif (swarm intelligence).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Setiap iterasi memuat banyak keputusan agen yang harus dihitung dan digabungkan.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C5BA8"/>
                </a:solidFill>
                <a:latin typeface="Calibri"/>
              </a:rPr>
              <a:t>Permasalahan: meningkatkan efisiensi komputasi tanpa mengorbankan konsistensi hasil.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63040"/>
            <a:ext cx="3566160" cy="658368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57276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651760"/>
            <a:ext cx="3566160" cy="65836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76148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Eksplorasi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840480"/>
            <a:ext cx="3566160" cy="658368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95020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Food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5029200"/>
            <a:ext cx="3566160" cy="658368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513892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Kembali ke Nest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32519" y="2121408"/>
            <a:ext cx="0" cy="530352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32519" y="3310128"/>
            <a:ext cx="0" cy="530352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19" y="4498848"/>
            <a:ext cx="0" cy="530352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0" y="5806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jalur feromon ↓ 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KONSEP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Mengapa ProcessPool untuk CPU &amp; ThreadPool untuk I/O?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3520440" cy="416052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3520440" cy="56692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08176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CPU-bound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0632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ProcessPoolExecutor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Pekerjaan: posisi &amp; keputusan gerak semut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Itu perhitungan CPU murni dalam Python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C5BA8"/>
                </a:solidFill>
                <a:latin typeface="Calibri"/>
              </a:rPr>
              <a:t>Alasan (GIL):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CPython memakai Global Interpreter Lock, sehingga thread tidak mengeksekusi bytecode Python secara paralel. Proses terpisah punya interpreter &amp; GIL sendiri, sehingga benar-benar paralel di beberapa 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98448"/>
            <a:ext cx="3520440" cy="416052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298448"/>
            <a:ext cx="3520440" cy="566928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08176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I/O-bound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30632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Calibri"/>
              </a:rPr>
              <a:t>ThreadPoolExecutor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Pekerjaan: checkpoint JSON, statistik &amp; CSV, pembaruan dashboard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E9E6B"/>
                </a:solidFill>
                <a:latin typeface="Calibri"/>
              </a:rPr>
              <a:t>Alasan: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Tugas-tugas ini lebih banyak menunggu operasi file/jaringan. Saat satu thread menunggu, thread lain lanjut; overhead ringan karena berbagi satu proses (tanpa proses/GIL terpisah per tugas).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98448"/>
            <a:ext cx="3520440" cy="4160520"/>
          </a:xfrm>
          <a:prstGeom prst="round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98448"/>
            <a:ext cx="3520440" cy="566928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08176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Main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11680"/>
            <a:ext cx="30632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Koordinasi &amp; konsistensi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DCE8F7"/>
                </a:solidFill>
                <a:latin typeface="Calibri"/>
              </a:rPr>
              <a:t>• Mempertahankan state global canonical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DCE8F7"/>
                </a:solidFill>
                <a:latin typeface="Calibri"/>
              </a:rPr>
              <a:t>• Menunggu seluruh worker selesai (barrier)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DCE8F7"/>
                </a:solidFill>
                <a:latin typeface="Calibri"/>
              </a:rPr>
              <a:t>• Menggabungkan hasil &amp; memperbarui world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4A90D9"/>
                </a:solidFill>
                <a:latin typeface="Calibri"/>
              </a:rPr>
              <a:t>Catatan: MPI tidak digunakan — eksekusi hanya pada satu komputer.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DESAIN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Parameter personal dari NIM 247006111139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8191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C5BA8"/>
                </a:solidFill>
                <a:latin typeface="Cambria"/>
              </a:rPr>
              <a:t>1.390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semut (ants)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823" y="141732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0551" y="158191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2E9E6B"/>
                </a:solidFill>
                <a:latin typeface="Cambri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551" y="224028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thread I/O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41732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2735" y="158191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C5BA8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2735" y="224028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worker proses 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5191" y="141732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4919" y="158191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E1F3C"/>
                </a:solidFill>
                <a:latin typeface="Cambria"/>
              </a:rPr>
              <a:t>100 ×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4919" y="224028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grid simulasi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7355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E08A1E"/>
                </a:solidFill>
                <a:latin typeface="Cambria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93192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sumber makanan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0823" y="310896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0551" y="327355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C0394B"/>
                </a:solidFill>
                <a:latin typeface="Cambria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551" y="393192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obstacle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10896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2735" y="327355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62C54"/>
                </a:solidFill>
                <a:latin typeface="Cambria"/>
              </a:rPr>
              <a:t>247006111139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2735" y="393192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seed (nilai NIM)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5191" y="310896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4919" y="327355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2E9E6B"/>
                </a:solidFill>
                <a:latin typeface="Cambria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4919" y="393192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iterasi per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A6372"/>
                </a:solidFill>
                <a:latin typeface="Calibri"/>
              </a:rPr>
              <a:t>Konfigurasi maksimum 1.000 iterasi, kecuali dioverride melalui argumen runtime.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ARSITEKTUR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Alur satu iterasi: chunking → pool → barrier → 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481328" cy="84124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Konfigurasi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29968" y="2112264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76272" y="1691640"/>
            <a:ext cx="1481328" cy="84124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178308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Snapshot World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2112264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03904" y="1691640"/>
            <a:ext cx="1481328" cy="84124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178308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Ant Chunking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85232" y="2112264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31536" y="1691640"/>
            <a:ext cx="1481328" cy="841248"/>
          </a:xfrm>
          <a:prstGeom prst="round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1536" y="178308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ProcessPool
Workers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112264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59168" y="1691640"/>
            <a:ext cx="1481328" cy="841248"/>
          </a:xfrm>
          <a:prstGeom prst="round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178308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Barrier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0496" y="2112264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86800" y="1691640"/>
            <a:ext cx="1481328" cy="84124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78308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Result Merge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68128" y="2112264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314432" y="1691640"/>
            <a:ext cx="1481328" cy="84124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178308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World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697480"/>
            <a:ext cx="351525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32409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C5BA8"/>
                </a:solidFill>
                <a:latin typeface="Calibri"/>
              </a:rPr>
              <a:t>Chunking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081528"/>
            <a:ext cx="324093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1B2230"/>
                </a:solidFill>
                <a:latin typeface="Calibri"/>
              </a:rPr>
              <a:t>Daftar semut dipecah menjadi beberapa bagian (chunk) sebanyak jumlah worker proses.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8218" y="2697480"/>
            <a:ext cx="351525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5378" y="2788920"/>
            <a:ext cx="32409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C5BA8"/>
                </a:solidFill>
                <a:latin typeface="Calibri"/>
              </a:rPr>
              <a:t>Barrier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5378" y="3081528"/>
            <a:ext cx="324093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1B2230"/>
                </a:solidFill>
                <a:latin typeface="Calibri"/>
              </a:rPr>
              <a:t>Main process menunggu SELURUH future selesai sebelum melanjutkan iterasi berikutnya.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7796" y="2697480"/>
            <a:ext cx="351525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4956" y="2788920"/>
            <a:ext cx="32409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C5BA8"/>
                </a:solidFill>
                <a:latin typeface="Calibri"/>
              </a:rPr>
              <a:t>Merge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4956" y="3081528"/>
            <a:ext cx="324093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1B2230"/>
                </a:solidFill>
                <a:latin typeface="Calibri"/>
              </a:rPr>
              <a:t>Hasil worker diurutkan dengan chunk_id lalu digabungkan secara deterministik; world diperbarui sekali.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977639"/>
            <a:ext cx="11094415" cy="45720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04164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Jalur I/O — ThreadPoolExecutor (tugas dijalankan asinkron)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617720"/>
            <a:ext cx="3515258" cy="658368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75488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B2230"/>
                </a:solidFill>
                <a:latin typeface="Calibri"/>
              </a:rPr>
              <a:t>Checkpoint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306269" y="4434840"/>
            <a:ext cx="0" cy="182880"/>
          </a:xfrm>
          <a:prstGeom prst="line">
            <a:avLst/>
          </a:prstGeom>
          <a:ln w="25400">
            <a:solidFill>
              <a:srgbClr val="2E9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338218" y="4617720"/>
            <a:ext cx="3515258" cy="658368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38218" y="475488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B2230"/>
                </a:solidFill>
                <a:latin typeface="Calibri"/>
              </a:rPr>
              <a:t>Statistik / CSV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95847" y="4434840"/>
            <a:ext cx="0" cy="182880"/>
          </a:xfrm>
          <a:prstGeom prst="line">
            <a:avLst/>
          </a:prstGeom>
          <a:ln w="25400">
            <a:solidFill>
              <a:srgbClr val="2E9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127796" y="4617720"/>
            <a:ext cx="3515258" cy="658368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27796" y="475488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B2230"/>
                </a:solidFill>
                <a:latin typeface="Calibri"/>
              </a:rPr>
              <a:t>Pembaruan Dashboard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885426" y="4434840"/>
            <a:ext cx="0" cy="182880"/>
          </a:xfrm>
          <a:prstGeom prst="line">
            <a:avLst/>
          </a:prstGeom>
          <a:ln w="25400">
            <a:solidFill>
              <a:srgbClr val="2E9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Tugas I/O dikirim sebagai future dan berjalan asinkron sesuai implementasi; ketika hasilnya diperlukan, main process menunggu future tersebut. Jalur I/O tidak menggantikan—dan tidak dijamin selalu bebas dari—penantian, tetapi memisahkan pekerjaan menunggu dari komputasi CPU.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IMPLEMENTASI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Python, NumPy, dan dashboard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4892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350" b="1">
                <a:solidFill>
                  <a:srgbClr val="1C5BA8"/>
                </a:solidFill>
                <a:latin typeface="Calibri"/>
              </a:rPr>
              <a:t>Bahasa &amp; pustaka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Python 3.14.3 sebagai bahasa implementasi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NumPy untuk grid makanan, obstacle, dan feromon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concurrent.futures + multiprocessing (standard library)</a:t>
            </a:r>
          </a:p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350" b="1">
                <a:solidFill>
                  <a:srgbClr val="1C5BA8"/>
                </a:solidFill>
                <a:latin typeface="Calibri"/>
              </a:rPr>
              <a:t>Model agen semut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Identitas, posisi, status membawa makanan, perilaku, path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Probabilitas gerak dipengaruhi feromon + heuristik jarak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Penguapan feromon mencegah jejak lama bertahan</a:t>
            </a:r>
          </a:p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350" b="1">
                <a:solidFill>
                  <a:srgbClr val="1C5BA8"/>
                </a:solidFill>
                <a:latin typeface="Calibri"/>
              </a:rPr>
              <a:t>Dashboard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Peta simulasi + legenda (semut, feromon, makanan, sarang, rintangan)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Status/iterasi, jumlah semut &amp; makanan, konfigurasi worker, metrik runtime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>
                <a:solidFill>
                  <a:srgbClr val="5A6372"/>
                </a:solidFill>
                <a:latin typeface="Calibri"/>
              </a:rPr>
              <a:t>Screenshot di kanan adalah dashboard asli dari laporan (Gambar 6), dipotong agar peta &amp; panel metrik lebih terbaca — proporsi gambar dipertahankan.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16345" y="1170432"/>
            <a:ext cx="3433923" cy="4425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353" y="1234440"/>
            <a:ext cx="3305907" cy="42976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16345" y="5596127"/>
            <a:ext cx="34339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Dashboard ANT WORLD (Gambar 6, laporan) — dipotong, proporsi dijaga.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METODOLOGI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Benchmark berpasangan: serial vs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Membandingkan baseline serial dan mode hybrid pada setiap konfigurasi.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Seed, jumlah semut, dan jumlah iterasi disamakan dalam setiap pasangan.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Setiap konfigurasi berjalan 100 iterasi; batch dijalankan tanpa server dashboard aktif.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Metrik: execution time, speedup, efficiency, throughput, dan determinisme.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926080"/>
          <a:ext cx="11100816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1554480"/>
                <a:gridCol w="1463040"/>
                <a:gridCol w="4242816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Konfigurasi</a:t>
                      </a:r>
                    </a:p>
                  </a:txBody>
                  <a:tcPr anchor="ctr" marT="0" marB="0"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Thread</a:t>
                      </a:r>
                    </a:p>
                  </a:txBody>
                  <a:tcPr anchor="ctr" marT="0" marB="0"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anchor="ctr" marT="0" marB="0"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Semut</a:t>
                      </a:r>
                    </a:p>
                  </a:txBody>
                  <a:tcPr anchor="ctr" marT="0" marB="0"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Keterangan</a:t>
                      </a:r>
                    </a:p>
                  </a:txBody>
                  <a:tcPr anchor="ctr" marT="0" marB="0">
                    <a:solidFill>
                      <a:srgbClr val="0E1F3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Calibri"/>
                        </a:rPr>
                        <a:t>Personal</a:t>
                      </a:r>
                    </a:p>
                  </a:txBody>
                  <a:tcPr anchor="ctr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1.390</a:t>
                      </a:r>
                    </a:p>
                  </a:txBody>
                  <a:tcPr anchor="ctr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Acuan personal</a:t>
                      </a:r>
                    </a:p>
                  </a:txBody>
                  <a:tcPr anchor="ctr" marT="0" marB="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Calibri"/>
                        </a:rPr>
                        <a:t>Variasi thread</a:t>
                      </a:r>
                    </a:p>
                  </a:txBody>
                  <a:tcPr anchor="ctr" marT="0" marB="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T="0" marB="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0" marB="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1.390</a:t>
                      </a:r>
                    </a:p>
                  </a:txBody>
                  <a:tcPr anchor="ctr" marT="0" marB="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Thread diubah; lainnya tetap</a:t>
                      </a:r>
                    </a:p>
                  </a:txBody>
                  <a:tcPr anchor="ctr" marT="0" marB="0">
                    <a:solidFill>
                      <a:srgbClr val="EEF1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Calibri"/>
                        </a:rPr>
                        <a:t>Variasi process</a:t>
                      </a:r>
                    </a:p>
                  </a:txBody>
                  <a:tcPr anchor="ctr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1.390</a:t>
                      </a:r>
                    </a:p>
                  </a:txBody>
                  <a:tcPr anchor="ctr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Process diubah; lainnya tetap</a:t>
                      </a:r>
                    </a:p>
                  </a:txBody>
                  <a:tcPr anchor="ctr" marT="0" marB="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Calibri"/>
                        </a:rPr>
                        <a:t>Variasi data</a:t>
                      </a:r>
                    </a:p>
                  </a:txBody>
                  <a:tcPr anchor="ctr" marT="0" marB="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0" marB="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0" marB="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anchor="ctr" marT="0" marB="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Calibri"/>
                        </a:rPr>
                        <a:t>Data diubah; lainnya tetap</a:t>
                      </a:r>
                    </a:p>
                  </a:txBody>
                  <a:tcPr anchor="ctr" marT="0" marB="0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HASIL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Konfigurasi personal: 5 thread, 3 process, 1.390 semut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5669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92240" y="1554480"/>
            <a:ext cx="1725168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1719072"/>
            <a:ext cx="1505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E9E6B"/>
                </a:solidFill>
                <a:latin typeface="Cambria"/>
              </a:rPr>
              <a:t>1,4878×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2377439"/>
            <a:ext cx="15057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Speedup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3712" y="1554480"/>
            <a:ext cx="1725168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3440" y="1719072"/>
            <a:ext cx="1505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C5BA8"/>
                </a:solidFill>
                <a:latin typeface="Cambria"/>
              </a:rPr>
              <a:t>49,59%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3440" y="2377439"/>
            <a:ext cx="15057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35184" y="1554480"/>
            <a:ext cx="1725168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44912" y="1719072"/>
            <a:ext cx="1505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E08A1E"/>
                </a:solidFill>
                <a:latin typeface="Cambria"/>
              </a:rPr>
              <a:t>449,77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44912" y="2377439"/>
            <a:ext cx="15057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Throughput (ants/s)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394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230"/>
                </a:solidFill>
                <a:latin typeface="Calibri"/>
              </a:rPr>
              <a:t>Waktu serial : 4,597952 s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C5BA8"/>
                </a:solidFill>
                <a:latin typeface="Calibri"/>
              </a:rPr>
              <a:t>Waktu hybrid : 3,090437 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Interpretasi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Pada konfigurasi personal ini, hybrid mencatat waktu eksekusi lebih rendah dibandingkan baseline serial, menghasilkan speedup 1,4878×.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5A6372"/>
                </a:solidFill>
                <a:latin typeface="Calibri"/>
              </a:rPr>
              <a:t>Catatan: food collected = 0 pada seluruh konfigurasi uji.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PERBANDINGAN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Speedup empat konfigurasi benchmark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69037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1115568" y="3200400"/>
            <a:ext cx="6172200" cy="0"/>
          </a:xfrm>
          <a:prstGeom prst="line">
            <a:avLst/>
          </a:prstGeom>
          <a:ln w="22225">
            <a:solidFill>
              <a:srgbClr val="5A63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70448" y="290779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A6372"/>
                </a:solidFill>
                <a:latin typeface="Calibri"/>
              </a:rPr>
              <a:t>1,0×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6903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A6372"/>
                </a:solidFill>
                <a:latin typeface="Calibri"/>
              </a:rPr>
              <a:t>Batang biru = speedup ≥ 1,0× ; batang merah = speedup &lt; 1,0× (hybrid lebih lambat daripada serial).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554480"/>
            <a:ext cx="4023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C5BA8"/>
                </a:solidFill>
                <a:latin typeface="Calibri"/>
              </a:rPr>
              <a:t>Nilai speedup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5T–3P–1.390 : 1,4878×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1T–3P–1.390 : 1,4896×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5T–2P–1.390 : 1,4060×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C0394B"/>
                </a:solidFill>
                <a:latin typeface="Calibri"/>
              </a:rPr>
              <a:t>• 5T–3P–500 : 0,9190×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C5BA8"/>
                </a:solidFill>
                <a:latin typeface="Calibri"/>
              </a:rPr>
              <a:t>Interpretasi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Konfigurasi 500 semut menghasilkan speedup di bawah satu. Hybrid tidak selalu lebih cepat karena biaya koordinasi dapat mengurangi manfaat paralelisasi.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ANALISIS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Bottleneck: apa yang terlihat vs apa yang belum diukur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49240" cy="370332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48920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400" b="1">
                <a:solidFill>
                  <a:srgbClr val="0E1F3C"/>
                </a:solidFill>
                <a:latin typeface="Calibri"/>
              </a:rPr>
              <a:t>Terlihat dalam desain program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Serialization / pickling state semut &amp; snapshot world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IPC: pertukaran data antarproses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Barrier: iterasi menahan sampai worker terakhir selesai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Merge serial di main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470855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1365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400" b="1">
                <a:solidFill>
                  <a:srgbClr val="C0394B"/>
                </a:solidFill>
                <a:latin typeface="Calibri"/>
              </a:rPr>
              <a:t>Belum diukur (perlu profiling)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Besar biaya pickling / IPC / transfer snapshot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Proporsi waktu merge pada main process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Waktu I/O terpisah (checkpoint/dashboard)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Penggunaan memori selama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57800"/>
            <a:ext cx="11094415" cy="868680"/>
          </a:xfrm>
          <a:prstGeom prst="round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67528"/>
            <a:ext cx="106372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Fakta terukur: 3 worker CPU berjalan pada mesin 2 physical core / 4 logical; pada 500 semut speedup 0,9190× (hybrid lebih lambat).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>
                <a:solidFill>
                  <a:srgbClr val="4A90D9"/>
                </a:solidFill>
                <a:latin typeface="Calibri"/>
              </a:rPr>
              <a:t>Komponen biaya di atas adalah dugaan dari desain dan BELUM dibuktikan secara kuantitatif tanpa profiling.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PENUTUP ANALISIS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Kesimpulan, keterbatasan, dan saran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10047" cy="461772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44287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500" b="1">
                <a:solidFill>
                  <a:srgbClr val="0E1F3C"/>
                </a:solidFill>
                <a:latin typeface="Calibri"/>
              </a:rPr>
              <a:t>Kesimpulan</a:t>
            </a:r>
          </a:p>
          <a:p>
            <a:pPr algn="l">
              <a:lnSpc>
                <a:spcPct val="98000"/>
              </a:lnSpc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Hybrid computing diterapkan pada satu komputer.</a:t>
            </a:r>
          </a:p>
          <a:p>
            <a:pPr algn="l">
              <a:lnSpc>
                <a:spcPct val="98000"/>
              </a:lnSpc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ProcessPoolExecutor untuk kerja CPU-bound (gerak semut).</a:t>
            </a:r>
          </a:p>
          <a:p>
            <a:pPr algn="l">
              <a:lnSpc>
                <a:spcPct val="98000"/>
              </a:lnSpc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ThreadPoolExecutor untuk kerja I/O-bound.</a:t>
            </a:r>
          </a:p>
          <a:p>
            <a:pPr algn="l">
              <a:lnSpc>
                <a:spcPct val="98000"/>
              </a:lnSpc>
              <a:spcAft>
                <a:spcPts val="500"/>
              </a:spcAft>
            </a:pPr>
            <a:r>
              <a:rPr sz="1250" b="1">
                <a:solidFill>
                  <a:srgbClr val="2E9E6B"/>
                </a:solidFill>
                <a:latin typeface="Calibri"/>
              </a:rPr>
              <a:t>• Personal: speedup 1,4878× (&gt; 1, hybrid lebih cepat).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250" b="1">
                <a:solidFill>
                  <a:srgbClr val="C0394B"/>
                </a:solidFill>
                <a:latin typeface="Calibri"/>
              </a:rPr>
              <a:t>• 500 semut: speedup 0,9190× (&lt; 1, hybrid lebih lambat).</a:t>
            </a:r>
          </a:p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350" b="1">
                <a:solidFill>
                  <a:srgbClr val="0E1F3C"/>
                </a:solidFill>
                <a:latin typeface="Calibri"/>
              </a:rPr>
              <a:t>Keterbatasan ilmiah</a:t>
            </a:r>
          </a:p>
          <a:p>
            <a:pPr algn="l">
              <a:lnSpc>
                <a:spcPct val="98000"/>
              </a:lnSpc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Food collected = 0 pada seluruh konfigurasi uji.</a:t>
            </a:r>
          </a:p>
          <a:p>
            <a:pPr algn="l">
              <a:lnSpc>
                <a:spcPct val="98000"/>
              </a:lnSpc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Hasil serial &amp; hybrid deterministik cocok.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Satu kali pengukuran per konfigurasi → observasional, bukan bukti signifikansi statistik.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325880"/>
            <a:ext cx="5410047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5887" y="1463040"/>
            <a:ext cx="5044287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500" b="1">
                <a:solidFill>
                  <a:srgbClr val="1C5BA8"/>
                </a:solidFill>
                <a:latin typeface="Calibri"/>
              </a:rPr>
              <a:t>Saran pengembangan</a:t>
            </a:r>
          </a:p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Ulangi benchmark untuk median &amp; variasi waktu.</a:t>
            </a:r>
          </a:p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Lakukan profiling sebelum optimasi.</a:t>
            </a:r>
          </a:p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Evaluasi chunk size &amp; biaya transfer snapshot.</a:t>
            </a:r>
          </a:p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Pertimbangkan shared memory hanya bila terbukti bermanfaat.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Gunakan MPI hanya bila simulasi benar-benar butuh multi-node.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6492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mbria"/>
              </a:rPr>
              <a:t>TERIMA KASIH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4A90D9"/>
                </a:solidFill>
                <a:latin typeface="Calibri"/>
              </a:rPr>
              <a:t>Tanya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64922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DCE8F7"/>
                </a:solidFill>
                <a:latin typeface="Calibri"/>
              </a:rPr>
              <a:t>Ripki Maulana • NIM 247006111139</a:t>
            </a:r>
          </a:p>
          <a:p>
            <a:pPr algn="l">
              <a:spcAft>
                <a:spcPts val="1600"/>
              </a:spcAft>
            </a:pPr>
            <a:r>
              <a:rPr sz="1250" b="0">
                <a:solidFill>
                  <a:srgbClr val="DCE8F7"/>
                </a:solidFill>
                <a:latin typeface="Calibri"/>
              </a:rPr>
              <a:t>Program Studi Informatika — Universitas Siliwangi — 2026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A90D9"/>
                </a:solidFill>
                <a:latin typeface="Calibri"/>
              </a:rPr>
              <a:t>Demo: antworld-production.up.railway.app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A90D9"/>
                </a:solidFill>
                <a:latin typeface="Calibri"/>
              </a:rPr>
              <a:t>Sumber: github.com/ripkimaulana1210-del/AntWorld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051560"/>
            <a:ext cx="4739335" cy="4892040"/>
          </a:xfrm>
          <a:prstGeom prst="roundRect">
            <a:avLst/>
          </a:prstGeom>
          <a:solidFill>
            <a:srgbClr val="162C54"/>
          </a:solidFill>
          <a:ln w="12700">
            <a:solidFill>
              <a:srgbClr val="1C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207008"/>
            <a:ext cx="4282135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Referensi inti (IEEE)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>
                <a:solidFill>
                  <a:srgbClr val="DCE8F7"/>
                </a:solidFill>
                <a:latin typeface="Calibri"/>
              </a:rPr>
              <a:t>[1] Python Software Foundation — concurrent.futures.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>
                <a:solidFill>
                  <a:srgbClr val="DCE8F7"/>
                </a:solidFill>
                <a:latin typeface="Calibri"/>
              </a:rPr>
              <a:t>[2] Python Software Foundation — multiprocessing.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>
                <a:solidFill>
                  <a:srgbClr val="DCE8F7"/>
                </a:solidFill>
                <a:latin typeface="Calibri"/>
              </a:rPr>
              <a:t>[3] Python Software Foundation — threading.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>
                <a:solidFill>
                  <a:srgbClr val="DCE8F7"/>
                </a:solidFill>
                <a:latin typeface="Calibri"/>
              </a:rPr>
              <a:t>[4] G. M. Amdahl (1967) — Validity of the Single Processor Approach.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>
                <a:solidFill>
                  <a:srgbClr val="DCE8F7"/>
                </a:solidFill>
                <a:latin typeface="Calibri"/>
              </a:rPr>
              <a:t>[5] Dorigo, Maniezzo &amp; Colorni (1996) — Ant System.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>
                <a:solidFill>
                  <a:srgbClr val="DCE8F7"/>
                </a:solidFill>
                <a:latin typeface="Calibri"/>
              </a:rPr>
              <a:t>[6] P. S. Pacheco (2011) — An Introduction to Parallel Programming.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DCE8F7"/>
                </a:solidFill>
                <a:latin typeface="Calibri"/>
              </a:rPr>
              <a:t>[7] Prodi Informatika Unsil (2026) — Naskah Soal 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