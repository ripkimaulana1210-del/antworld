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Waktu (s)</c:v>
                </c:pt>
              </c:strCache>
            </c:strRef>
          </c:tx>
          <c:spPr>
            <a:solidFill>
              <a:srgbClr val="0E1F3C"/>
            </a:solidFill>
          </c:spPr>
          <c:dLbls>
            <c:numFmt formatCode="0.000000" sourceLinked="0"/>
            <c:txPr>
              <a:bodyPr/>
              <a:lstStyle/>
              <a:p>
                <a:pPr>
                  <a:defRPr sz="1500" b="1">
                    <a:solidFill>
                      <a:srgbClr val="0E1F3C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Serial</c:v>
                </c:pt>
                <c:pt idx="1">
                  <c:v>Hybrid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4.597952</c:v>
                </c:pt>
                <c:pt idx="1">
                  <c:v>3.090437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Speedup ≥ 1,0×</c:v>
                </c:pt>
              </c:strCache>
            </c:strRef>
          </c:tx>
          <c:spPr>
            <a:solidFill>
              <a:srgbClr val="1C5BA8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2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5T·3P
1.390</c:v>
                </c:pt>
                <c:pt idx="1">
                  <c:v>1T·3P
1.390</c:v>
                </c:pt>
                <c:pt idx="2">
                  <c:v>5T·2P
1.390</c:v>
                </c:pt>
                <c:pt idx="3">
                  <c:v>5T·3P
500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1.4878</c:v>
                </c:pt>
                <c:pt idx="1">
                  <c:v>1.4896</c:v>
                </c:pt>
                <c:pt idx="2">
                  <c:v>1.406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Speedup &lt; 1,0×</c:v>
                </c:pt>
              </c:strCache>
            </c:strRef>
          </c:tx>
          <c:spPr>
            <a:solidFill>
              <a:srgbClr val="C0394B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1200" b="1">
                    <a:solidFill>
                      <a:srgbClr val="1B223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5T·3P
1.390</c:v>
                </c:pt>
                <c:pt idx="1">
                  <c:v>1T·3P
1.390</c:v>
                </c:pt>
                <c:pt idx="2">
                  <c:v>5T·2P
1.390</c:v>
                </c:pt>
                <c:pt idx="3">
                  <c:v>5T·3P
500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3">
                  <c:v>0.919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7"/>
          <c:min val="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 dengan satu kalimat: ini simulasi koloni semut, tapi pertanyaan sebenarnya adalah kapan paralelisme membayar biayanya. Sebut nama dan 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swarm intelligence: aturan lokal, pola global. Ini yang membuat simulasi berat komputasi tetapi dapat diparalelkan per-agen.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kenapa dua mekanisme berbeda: GIL memaksa kerja CPU ke proses, sementara kerja I/O cukup di thread. Sebut MPI tidak dipakai.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parameter unik dari NIM dan bahwa seed memakai nilai NIM untuk determinisme antara serial dan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Telusuri rail. Definisikan chunking, barrier, merge. Jangan klaim jalur I/O selalu bebas blocking — jelaskan sebagai async yang dinanti bila perlu.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asli dari laporan, bukan hasil palsu. Bilang dashboard adalah visualisasi runtime; angka pembanding tetap Tabel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desain berpasangan. Setiap konfigurasi hanya dijalankan sekali → hasil observasional, bukan uji signifikansi statistik.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Angka dari Tabel 5, tidak diubah. Hybrid lebih cepat di konfigurasi personal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Batang merah = speedup &lt; 1,0×. Garis putus-putus = ambang 1,0×. Tekankan skala kerja menentukan hasil.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Pisahkan yang terlihat dari desain dengan yang belum diukur. Jangan klaim bottleneck sudah terbukti.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Sampaikan hasil DAN keterbatasan: food=0, deterministik, satu kali pengukuran. Pelajaran: pilih paradigma dari jenis beban, bukan jumlah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Tutup. Buka tanya jawab. Referensi mengikuti daftar pustaka laporan.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7589520" y="5175504"/>
            <a:ext cx="691286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80806" y="5175504"/>
            <a:ext cx="691286" cy="329184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972092" y="5138928"/>
            <a:ext cx="729692" cy="365760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701784" y="5138928"/>
            <a:ext cx="729691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431475" y="5102352"/>
            <a:ext cx="998525" cy="292608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235086" y="5129784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26372" y="545896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56064" y="509320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85755" y="5349240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A90D9"/>
                </a:solidFill>
                <a:latin typeface="Calibri"/>
              </a:rPr>
              <a:t>Ujian Tengah Semester — Komputasi Paralel dan Terdistribusi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417320"/>
            <a:ext cx="9601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Cambria"/>
              </a:rPr>
              <a:t>ANT WORLD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DCE8F7"/>
                </a:solidFill>
                <a:latin typeface="Calibri"/>
              </a:rPr>
              <a:t>Hybrid Parallel Ant Colony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4A90D9"/>
                </a:solidFill>
                <a:latin typeface="Calibri"/>
              </a:rPr>
              <a:t>Hybrid Computing for Real-World Simulation and Data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Ripki Maulana  ·  NIM 247006111139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Program Studi Informatika — Universitas Siliwangi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LATAR BELAKANG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Keputusan agen bersifat lokal, biayanya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Tiap semut memilih satu langkah dari informasi sekitar dirinya saja: feromon tetangga dan jarak.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Tidak ada pengendali yang merencanakan lintasan seluruh koloni. Perilaku kelompok muncul dari interaksi lokal.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500" b="0">
                <a:solidFill>
                  <a:srgbClr val="1B2230"/>
                </a:solidFill>
                <a:latin typeface="Calibri"/>
              </a:rPr>
              <a:t>Setiap iterasi menjalankan keputusan itu untuk 1.390 agen sekaligus. Inilah beban komputasinya.</a:t>
            </a:r>
          </a:p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1">
                <a:solidFill>
                  <a:srgbClr val="1C5BA8"/>
                </a:solidFill>
                <a:latin typeface="Calibri"/>
              </a:rPr>
              <a:t>Hitung semua keputusan itu tanpa mengubah hasil.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965960"/>
            <a:ext cx="1828800" cy="777240"/>
          </a:xfrm>
          <a:prstGeom prst="round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1226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Nest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834639"/>
            <a:ext cx="1828800" cy="77724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98094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Eksplorasi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20" y="1965960"/>
            <a:ext cx="1828800" cy="777240"/>
          </a:xfrm>
          <a:prstGeom prst="round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2112264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Sumber makanan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8138160" y="2354579"/>
            <a:ext cx="91440" cy="86868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875520" y="2354579"/>
            <a:ext cx="91440" cy="86868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315200" y="2743200"/>
            <a:ext cx="3474720" cy="0"/>
          </a:xfrm>
          <a:prstGeom prst="line">
            <a:avLst/>
          </a:prstGeom>
          <a:ln w="25400">
            <a:solidFill>
              <a:srgbClr val="2E9E6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4297679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Jalur penuh (garis putus-putus) = semut kembali membawa makanan. Feromon menandai rute yang berhasil.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KONSEP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Dua beban kerja, dua mekanisme — GIL yang memutuskan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18607" cy="320040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84248"/>
            <a:ext cx="476996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CPU-bound  →  ProcessPoolExecutor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476996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Perhitungan gerak &amp; keputusan semut — bytecode Python murni.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DCE8F7"/>
                </a:solidFill>
                <a:latin typeface="Calibri"/>
              </a:rPr>
              <a:t>GIL: pada CPython, thread tidak menjalankan bytecode Python secara paralel.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4A90D9"/>
                </a:solidFill>
                <a:latin typeface="Calibri"/>
              </a:rPr>
              <a:t>Proses terpisah punya interpreter dan GIL sendiri, jadi benar-benar paralel.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318607" cy="32004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84248"/>
            <a:ext cx="4769967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E9E6B"/>
                </a:solidFill>
                <a:latin typeface="Calibri"/>
              </a:rPr>
              <a:t>I/O-bound  →  ThreadPoolExecutor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51760"/>
            <a:ext cx="476996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Checkpoint JSON, statistik/CSV, dan state dashboard.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Tugas lebih banyak menunggu file/jaringan, bukan menghitung.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Calibri"/>
              </a:rPr>
              <a:t>Saat satu thread menunggu, thread lain berjalan; berbagi satu proses.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57800"/>
            <a:ext cx="11094415" cy="658368"/>
          </a:xfrm>
          <a:prstGeom prst="round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376672"/>
            <a:ext cx="105457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E1F3C"/>
                </a:solidFill>
                <a:latin typeface="Calibri"/>
              </a:rPr>
              <a:t>Main process memegang state global: menunggu semua worker (barrier), lalu menggabungkan hasil dan memperbarui world. MPI tidak dipakai, karena eksekusi satu komputer.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PARAMETER PERSONAL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Angka-angka ini berasal dari NIM, bukan dari selera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NIM 247006111139  →  thread = 39 mod 4 + 2, proses = 61 mod 3 + 2, data = 139 ×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C5BA8"/>
                </a:solidFill>
                <a:latin typeface="Cambria"/>
              </a:rPr>
              <a:t>1.390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semut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13683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2E9E6B"/>
                </a:solidFill>
                <a:latin typeface="Cambria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3683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thread I/O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0803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7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1C5BA8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worker proses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7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771" y="2377440"/>
            <a:ext cx="249928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E1F3C"/>
                </a:solidFill>
                <a:latin typeface="Cambria"/>
              </a:rPr>
              <a:t>100×100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1" y="3154680"/>
            <a:ext cx="249928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0891" y="2468880"/>
            <a:ext cx="10972" cy="868680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1512" y="511659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73469" y="548969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7062" y="504390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72915" y="483545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48691" y="5485319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2239" y="446006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98065" y="4078286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0145" y="541382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4937" y="422879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3941" y="4729337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9639" y="3819507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2658" y="545272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63658" y="391501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5282" y="427885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66290" y="568206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9861" y="465328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24231" y="388457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9828" y="3919239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38741" y="4917504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52504" y="4564986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82904" y="4914918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8925" y="478419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15813" y="4296702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68858" y="5510385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14756" y="455714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49360" y="4016123"/>
            <a:ext cx="109728" cy="109728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72184" y="4718304"/>
            <a:ext cx="164592" cy="1645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87959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372"/>
                </a:solidFill>
                <a:latin typeface="Calibri"/>
              </a:rPr>
              <a:t>Grid 100×100 (ilustrasi konseptual)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3749040"/>
            <a:ext cx="85340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Konfigurasi lain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08960" y="417880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4178808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247006111139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456285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Sumber makanan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456285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4946904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Obstacle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946904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5330952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Iterasi benchmark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5330952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08960" y="5715000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Maks. iterasi config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5715000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1.000 (override CLI)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08960" y="609904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Pheromone decay / deposit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6099048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0,1 / 10,0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08960" y="648309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Alpha / beta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6483096"/>
            <a:ext cx="29260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B2230"/>
                </a:solidFill>
                <a:latin typeface="Calibri"/>
              </a:rPr>
              <a:t>1,0 / 2,0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ARSITEKTUR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Satu iterasi: chunk → pool → barrier →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Konfigurasi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29968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76272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76272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Snapshot world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03904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03904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Ant chunking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85232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31536" y="1920240"/>
            <a:ext cx="1481328" cy="868680"/>
          </a:xfrm>
          <a:prstGeom prst="round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1536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ProcessPool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59168" y="1920240"/>
            <a:ext cx="1481328" cy="868680"/>
          </a:xfrm>
          <a:prstGeom prst="round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Barrier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0496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86800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168128" y="2350008"/>
            <a:ext cx="146304" cy="0"/>
          </a:xfrm>
          <a:prstGeom prst="line">
            <a:avLst/>
          </a:prstGeom>
          <a:ln w="25400">
            <a:solidFill>
              <a:srgbClr val="5A63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14432" y="1920240"/>
            <a:ext cx="1481328" cy="868680"/>
          </a:xfrm>
          <a:prstGeom prst="round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14432" y="2011680"/>
            <a:ext cx="148132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World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63240"/>
            <a:ext cx="351525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Chunking — 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daftar semut dipecah per 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6778" y="3063240"/>
            <a:ext cx="351525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Barrier — 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tunggu semua future selesai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4916" y="3063240"/>
            <a:ext cx="351525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C5BA8"/>
                </a:solidFill>
                <a:latin typeface="Calibri"/>
              </a:rPr>
              <a:t>Merge — 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B2230"/>
                </a:solidFill>
                <a:latin typeface="Calibri"/>
              </a:rPr>
              <a:t>urutkan per chunk_id lalu gabung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200"/>
            <a:ext cx="3291840" cy="137160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0233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9E6B"/>
                </a:solidFill>
                <a:latin typeface="Calibri"/>
              </a:rPr>
              <a:t>ThreadPool (I/O)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348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>
                <a:solidFill>
                  <a:srgbClr val="1B2230"/>
                </a:solidFill>
                <a:latin typeface="Calibri"/>
              </a:rPr>
              <a:t>Checkpoint · statistik/CSV ·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069080"/>
            <a:ext cx="743681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Worker menghitung state lokal pada snapshot; tidak menulis world global.</a:t>
            </a:r>
          </a:p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Main process menunggu seluruh future, mengurutkan hasil dengan chunk_id, lalu menerapkan update sekali, secara deterministik.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Tugas I/O dikirim sebagai future dan berjalan asinkron; bila hasilnya diperlukan, main process menunggu future itu.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7538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217920"/>
            <a:ext cx="5275384" cy="64008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309360"/>
            <a:ext cx="481818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CE8F7"/>
                </a:solidFill>
                <a:latin typeface="Calibri"/>
              </a:rPr>
              <a:t>Dashboard ANT WORLD — screenshot asli (laporan, Gambar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502920"/>
            <a:ext cx="5333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Implementasi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822960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960120"/>
            <a:ext cx="5333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2600" b="1">
                <a:solidFill>
                  <a:srgbClr val="0E1F3C"/>
                </a:solidFill>
                <a:latin typeface="Cambria"/>
              </a:rPr>
              <a:t>Model kecil, runtime yang bisa diamati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286000"/>
            <a:ext cx="54864" cy="566928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Bahasa &amp; pustaka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60320"/>
            <a:ext cx="5105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Python 3.14.3; NumPy untuk grid makanan, obstacle, feromon; concurrent.futures dan multiprocessing dari standard library.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520440"/>
            <a:ext cx="54864" cy="566928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520440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Agen semut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794760"/>
            <a:ext cx="5105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Tiap semut menyimpan id, posisi, status membawa makanan, perilaku, path; probabilitas gerak dari feromon dan heuristik jarak.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754880"/>
            <a:ext cx="54864" cy="566928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754880"/>
            <a:ext cx="51050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5029200"/>
            <a:ext cx="51050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Menampilkan peta simulasi, status/iterasi, jumlah semut &amp; makanan, konfigurasi worker, dan metrik runtime.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METODOLOGI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Setiap konfigurasi diukur berpasangan: serial ↔ hybrid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6372"/>
                </a:solidFill>
                <a:latin typeface="Calibri"/>
              </a:rPr>
              <a:t>Seed, jumlah semut, dan iterasi disamakan; 100 iterasi per konfigurasi; tanpa dashboard aktif.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441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A6372"/>
                </a:solidFill>
                <a:latin typeface="Calibri"/>
              </a:rPr>
              <a:t>Mesin uji: Intel Core i3-4160, 2 physical core / 4 logical processor, RAM ±7,92 GB, Windows 10 Pro, Python 3.14.3.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59" y="3017520"/>
            <a:ext cx="10362895" cy="27432"/>
          </a:xfrm>
          <a:prstGeom prst="rect">
            <a:avLst/>
          </a:prstGeom>
          <a:solidFill>
            <a:srgbClr val="DC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36025" y="2944368"/>
            <a:ext cx="164592" cy="164592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601" y="32644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Personal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601" y="3611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5T · 3P · 1.390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15401" y="4757420"/>
            <a:ext cx="411480" cy="1597659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8321" y="5281239"/>
            <a:ext cx="411480" cy="107384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26749" y="2944368"/>
            <a:ext cx="164592" cy="164592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325" y="32644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Variasi thread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325" y="3611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1T · 3P · 1.390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125" y="4732933"/>
            <a:ext cx="411480" cy="1622146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045" y="5266077"/>
            <a:ext cx="411480" cy="1089002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17473" y="2944368"/>
            <a:ext cx="164592" cy="164592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11049" y="32644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Variasi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1049" y="3611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5T · 2P · 1.390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96849" y="4637050"/>
            <a:ext cx="411480" cy="1718029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99769" y="5133125"/>
            <a:ext cx="411480" cy="122195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08197" y="2944368"/>
            <a:ext cx="164592" cy="164592"/>
          </a:xfrm>
          <a:prstGeom prst="ellipse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1773" y="32644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1F3C"/>
                </a:solidFill>
                <a:latin typeface="Calibri"/>
              </a:rPr>
              <a:t>Variasi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1773" y="3611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5T · 3P · 500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87573" y="5666082"/>
            <a:ext cx="411480" cy="688997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90493" y="5605350"/>
            <a:ext cx="411480" cy="749729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274320" cy="146304"/>
          </a:xfrm>
          <a:prstGeom prst="rect">
            <a:avLst/>
          </a:prstGeom>
          <a:solidFill>
            <a:srgbClr val="16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79145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B2230"/>
                </a:solidFill>
                <a:latin typeface="Calibri"/>
              </a:rPr>
              <a:t>Serial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4846320"/>
            <a:ext cx="274320" cy="1463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4791456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B2230"/>
                </a:solidFill>
                <a:latin typeface="Calibri"/>
              </a:rPr>
              <a:t>Hybrid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4791456"/>
            <a:ext cx="7802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2"/>
                </a:solidFill>
                <a:latin typeface="Calibri"/>
              </a:rPr>
              <a:t>Tinggi batang = waktu eksekusi (detik). Metrik: waktu, speedup, efisiensi, throughput, determinisme.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HASIL UTAMA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Pada konfigurasi personal, hybrid menyelesaikan lebih cepat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206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600" b="1">
                <a:solidFill>
                  <a:srgbClr val="2E9E6B"/>
                </a:solidFill>
                <a:latin typeface="Cambria"/>
              </a:rPr>
              <a:t>1,4878×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A6372"/>
                </a:solidFill>
                <a:latin typeface="Calibri"/>
              </a:rPr>
              <a:t>speedup  (T_serial / T_hybrid)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4206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Serial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0E1F3C"/>
                </a:solidFill>
                <a:latin typeface="Cambria"/>
              </a:rPr>
              <a:t>4,597952 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Hybrid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1C5BA8"/>
                </a:solidFill>
                <a:latin typeface="Cambria"/>
              </a:rPr>
              <a:t>3,090437 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937760" y="1783080"/>
          <a:ext cx="6705295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37760" y="5943600"/>
            <a:ext cx="6705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Efisiensi 49,59%  ·  Throughput 449,77 ants/s  ·  Food collected = 0 pada semua konfigurasi uji.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150" b="1">
                <a:solidFill>
                  <a:srgbClr val="5A6372"/>
                </a:solidFill>
                <a:latin typeface="Calibri"/>
              </a:rPr>
              <a:t>Catatan: speedup ini perbandingan performa, bukan bukti simulasi berjalan benar secara fungsional.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PERBANDINGAN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Menambah skala mengubah jawabannya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82880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1143000" y="3418242"/>
            <a:ext cx="6903720" cy="0"/>
          </a:xfrm>
          <a:prstGeom prst="line">
            <a:avLst/>
          </a:prstGeom>
          <a:ln w="19050">
            <a:solidFill>
              <a:srgbClr val="5A637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269480" y="3143922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A6372"/>
                </a:solidFill>
                <a:latin typeface="Calibri"/>
              </a:rPr>
              <a:t>1,0×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19" y="1965960"/>
            <a:ext cx="31391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0394B"/>
                </a:solidFill>
                <a:latin typeface="Calibri"/>
              </a:rPr>
              <a:t>Bacaan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2331720"/>
            <a:ext cx="31391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00" b="1">
                <a:solidFill>
                  <a:srgbClr val="C0394B"/>
                </a:solidFill>
                <a:latin typeface="Cambria"/>
              </a:rPr>
              <a:t>500 semut: 0,9190×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>
                <a:solidFill>
                  <a:srgbClr val="5A6372"/>
                </a:solidFill>
                <a:latin typeface="Calibri"/>
              </a:rPr>
              <a:t>hybrid lebih lambat daripada serial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3794760"/>
            <a:ext cx="313913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Tiga konfigurasi 1.390 semut tetap di atas 1,0×;</a:t>
            </a:r>
          </a:p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1250" b="0">
                <a:solidFill>
                  <a:srgbClr val="1B2230"/>
                </a:solidFill>
                <a:latin typeface="Calibri"/>
              </a:rPr>
              <a:t>pada 500 semut, biaya koordinasi melebihi manfaat paralel.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>
                <a:solidFill>
                  <a:srgbClr val="1C5BA8"/>
                </a:solidFill>
                <a:latin typeface="Calibri"/>
              </a:rPr>
              <a:t>Speedup tidak bertambah linear seiring sumber daya.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ANALISIS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Ini hipotesis dari desain, bukan hasil pengukuran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18607" cy="356616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E1F3C"/>
                </a:solidFill>
                <a:latin typeface="Calibri"/>
              </a:rPr>
              <a:t>Terlihat dalam desain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4769967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Pickling state semut &amp; snapshot world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IPC antarproses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Barrier menunggu worker terakhir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Merge serial di main process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318607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0394B"/>
                </a:solidFill>
                <a:latin typeface="Calibri"/>
              </a:rPr>
              <a:t>Belum diukur (perlu profiling)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06040"/>
            <a:ext cx="4769967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Besar biaya pickling / IPC / transfer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Proporsi waktu merge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Waktu I/O terpisah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Penggunaan memori saat benchmark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11094415" cy="64008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678424"/>
            <a:ext cx="1054577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Fakta terukur: 3 worker pada 2 physical core / 4 logical; 500 semut → 0,9190×. Komponen di atas BELUM dibuktikan kuantitatif tanpa profiling.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C5BA8"/>
                </a:solidFill>
                <a:latin typeface="Calibri"/>
              </a:rPr>
              <a:t>KESIMPULAN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005840" cy="32004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000" b="1">
                <a:solidFill>
                  <a:srgbClr val="0E1F3C"/>
                </a:solidFill>
                <a:latin typeface="Cambria"/>
              </a:rPr>
              <a:t>Hybrid membayar hanya ketika pekerjaannya cukup besar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18607" cy="3566160"/>
          </a:xfrm>
          <a:prstGeom prst="round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39112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Yang terbukti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4769967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DCE8F7"/>
                </a:solidFill>
                <a:latin typeface="Calibri"/>
              </a:rPr>
              <a:t>ProcessPool menangani gerak semut (CPU-bound).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DCE8F7"/>
                </a:solidFill>
                <a:latin typeface="Calibri"/>
              </a:rPr>
              <a:t>ThreadPool menangani kerja I/O-bound.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1">
                <a:solidFill>
                  <a:srgbClr val="2E9E6B"/>
                </a:solidFill>
                <a:latin typeface="Calibri"/>
              </a:rPr>
              <a:t>Personal 1.390 semut: 1,4878× (lebih cepat).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C0394B"/>
                </a:solidFill>
                <a:latin typeface="Calibri"/>
              </a:rPr>
              <a:t>500 semut: 0,9190× (lebih lambat).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318607" cy="3566160"/>
          </a:xfrm>
          <a:prstGeom prst="roundRect">
            <a:avLst/>
          </a:prstGeom>
          <a:solidFill>
            <a:srgbClr val="EEF1F6"/>
          </a:solidFill>
          <a:ln w="12700">
            <a:solidFill>
              <a:srgbClr val="DCE8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39112"/>
            <a:ext cx="47699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C5BA8"/>
                </a:solidFill>
                <a:latin typeface="Calibri"/>
              </a:rPr>
              <a:t>Keterbatasan &amp; saran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51760"/>
            <a:ext cx="4769967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Food collected = 0; hasil serial/hybrid deterministik cocok.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Satu kali ukur per konfigurasi → observasional, bukan statistik.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</a:pPr>
            <a:r>
              <a:rPr sz="1350" b="1">
                <a:solidFill>
                  <a:srgbClr val="1C5BA8"/>
                </a:solidFill>
                <a:latin typeface="Calibri"/>
              </a:rPr>
              <a:t>Perlu pengulangan benchmark dan validasi fungsional simulasi.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>
                <a:solidFill>
                  <a:srgbClr val="1B2230"/>
                </a:solidFill>
                <a:latin typeface="Calibri"/>
              </a:rPr>
              <a:t>MPI hanya bila butuh multi-node.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372"/>
                </a:solidFill>
                <a:latin typeface="Calibri"/>
              </a:rPr>
              <a:t>ANT WORLD — Hybrid Parallel Ant Colony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A63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C5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822960" y="5541264"/>
            <a:ext cx="592531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15491" y="5541264"/>
            <a:ext cx="592531" cy="329184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08022" y="5504688"/>
            <a:ext cx="625450" cy="365760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33472" y="5504688"/>
            <a:ext cx="625449" cy="256032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258921" y="5468112"/>
            <a:ext cx="855879" cy="292608"/>
          </a:xfrm>
          <a:prstGeom prst="line">
            <a:avLst/>
          </a:prstGeom>
          <a:ln w="28575">
            <a:solidFill>
              <a:srgbClr val="4A9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369771" y="5495544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2302" y="582472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87752" y="5458968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13201" y="5715000"/>
            <a:ext cx="91440" cy="91440"/>
          </a:xfrm>
          <a:prstGeom prst="ellipse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88720"/>
            <a:ext cx="6035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Terima kasih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4A90D9"/>
                </a:solidFill>
                <a:latin typeface="Calibri"/>
              </a:rPr>
              <a:t>Tanya jawab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08960"/>
            <a:ext cx="6035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DCE8F7"/>
                </a:solidFill>
                <a:latin typeface="Calibri"/>
              </a:rPr>
              <a:t>Ripki Maulana · NIM 247006111139</a:t>
            </a:r>
          </a:p>
          <a:p>
            <a:pPr algn="l">
              <a:spcAft>
                <a:spcPts val="1400"/>
              </a:spcAft>
            </a:pPr>
            <a:r>
              <a:rPr sz="1200" b="0">
                <a:solidFill>
                  <a:srgbClr val="DCE8F7"/>
                </a:solidFill>
                <a:latin typeface="Calibri"/>
              </a:rPr>
              <a:t>Program Studi Informatika — Universitas Siliwangi — 2026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4A90D9"/>
                </a:solidFill>
                <a:latin typeface="Calibri"/>
              </a:rPr>
              <a:t>Demo: antworld-production.up.railway.app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4A90D9"/>
                </a:solidFill>
                <a:latin typeface="Calibri"/>
              </a:rPr>
              <a:t>Sumber: github.com/ripkimaulana1210-del/AntWorld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1188720"/>
            <a:ext cx="4602175" cy="4572000"/>
          </a:xfrm>
          <a:prstGeom prst="roundRect">
            <a:avLst/>
          </a:prstGeom>
          <a:solidFill>
            <a:srgbClr val="162C54"/>
          </a:solidFill>
          <a:ln w="12700">
            <a:solidFill>
              <a:srgbClr val="1C5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371600"/>
            <a:ext cx="4190695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1">
                <a:solidFill>
                  <a:srgbClr val="FFFFFF"/>
                </a:solidFill>
                <a:latin typeface="Calibri"/>
              </a:rPr>
              <a:t>Referensi inti (IEEE)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[1] Python Software Foundation. concurrent.futures, Python 3 docs.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[2] Python Software Foundation. multiprocessing, Python 3 docs.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[3] Python Software Foundation. threading, Python 3 docs.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[4] G. M. Amdahl, Validity of the Single Processor Approach, 1967.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[5] Dorigo, Maniezzo &amp; Colorni, Ant System, IEEE Trans. SMC-B, 1996.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[6] P. S. Pacheco, An Introduction to Parallel Programming, 2011.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CE8F7"/>
                </a:solidFill>
                <a:latin typeface="Calibri"/>
              </a:rPr>
              <a:t>[7] Prodi Informatika Unsil, Naskah Soal UTS,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